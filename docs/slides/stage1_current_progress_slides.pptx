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905cb1fc5f4ec6" /><Relationship Type="http://schemas.openxmlformats.org/officeDocument/2006/relationships/extended-properties" Target="/docProps/app.xml" Id="Rc5fea8921fcf4226" /><Relationship Type="http://schemas.openxmlformats.org/officeDocument/2006/relationships/officeDocument" Target="/ppt/presentation.xml" Id="R6e4df7fb2c7347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bcf425f92e4c7a"/>
  </p:sldMasterIdLst>
  <p:notesMasterIdLst>
    <p:notesMasterId xmlns:r="http://schemas.openxmlformats.org/officeDocument/2006/relationships" r:id="R84deb967ae1046cc"/>
  </p:notesMasterIdLst>
  <p:sldIdLst>
    <p:sldId xmlns:r="http://schemas.openxmlformats.org/officeDocument/2006/relationships" id="256" r:id="Rb01be5d8cc5f44c2"/>
    <p:sldId xmlns:r="http://schemas.openxmlformats.org/officeDocument/2006/relationships" id="257" r:id="R44f1e63c80db47fe"/>
    <p:sldId xmlns:r="http://schemas.openxmlformats.org/officeDocument/2006/relationships" id="258" r:id="R724b277e067c4f16"/>
    <p:sldId xmlns:r="http://schemas.openxmlformats.org/officeDocument/2006/relationships" id="259" r:id="Ra39f960653ff45af"/>
    <p:sldId xmlns:r="http://schemas.openxmlformats.org/officeDocument/2006/relationships" id="260" r:id="R8c82c67e06cd4214"/>
    <p:sldId xmlns:r="http://schemas.openxmlformats.org/officeDocument/2006/relationships" id="261" r:id="R668025170efe4540"/>
    <p:sldId xmlns:r="http://schemas.openxmlformats.org/officeDocument/2006/relationships" id="262" r:id="Rf4bde7cedd98461e"/>
    <p:sldId xmlns:r="http://schemas.openxmlformats.org/officeDocument/2006/relationships" id="263" r:id="R734251fef010406c"/>
    <p:sldId xmlns:r="http://schemas.openxmlformats.org/officeDocument/2006/relationships" id="264" r:id="Rd78c1e19e9614b3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53bf2258104ea2" /><Relationship Type="http://schemas.openxmlformats.org/officeDocument/2006/relationships/slideMaster" Target="/ppt/slideMasters/slideMaster1.xml" Id="Rf7bcf425f92e4c7a" /><Relationship Type="http://schemas.openxmlformats.org/officeDocument/2006/relationships/notesMaster" Target="/ppt/notesMasters/notesMaster1.xml" Id="R84deb967ae1046cc" /><Relationship Type="http://schemas.openxmlformats.org/officeDocument/2006/relationships/presProps" Target="/ppt/presProps.xml" Id="Rd4def8708eb34197" /><Relationship Type="http://schemas.openxmlformats.org/officeDocument/2006/relationships/tableStyles" Target="/ppt/tableStyles.xml" Id="R8f2c26074d05463e" /><Relationship Type="http://schemas.openxmlformats.org/officeDocument/2006/relationships/slide" Target="/ppt/slides/slide1.xml" Id="Rb01be5d8cc5f44c2" /><Relationship Type="http://schemas.openxmlformats.org/officeDocument/2006/relationships/slide" Target="/ppt/slides/slide2.xml" Id="R44f1e63c80db47fe" /><Relationship Type="http://schemas.openxmlformats.org/officeDocument/2006/relationships/slide" Target="/ppt/slides/slide3.xml" Id="R724b277e067c4f16" /><Relationship Type="http://schemas.openxmlformats.org/officeDocument/2006/relationships/slide" Target="/ppt/slides/slide4.xml" Id="Ra39f960653ff45af" /><Relationship Type="http://schemas.openxmlformats.org/officeDocument/2006/relationships/slide" Target="/ppt/slides/slide5.xml" Id="R8c82c67e06cd4214" /><Relationship Type="http://schemas.openxmlformats.org/officeDocument/2006/relationships/slide" Target="/ppt/slides/slide6.xml" Id="R668025170efe4540" /><Relationship Type="http://schemas.openxmlformats.org/officeDocument/2006/relationships/slide" Target="/ppt/slides/slide7.xml" Id="Rf4bde7cedd98461e" /><Relationship Type="http://schemas.openxmlformats.org/officeDocument/2006/relationships/slide" Target="/ppt/slides/slide8.xml" Id="R734251fef010406c" /><Relationship Type="http://schemas.openxmlformats.org/officeDocument/2006/relationships/slide" Target="/ppt/slides/slide9.xml" Id="Rd78c1e19e9614b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8f8357ecba45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888f945cf343c1" /><Relationship Type="http://schemas.openxmlformats.org/officeDocument/2006/relationships/notesMaster" Target="/ppt/notesMasters/notesMaster1.xml" Id="R34806c0c3c914ef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d4b855be3364a9d" /><Relationship Type="http://schemas.openxmlformats.org/officeDocument/2006/relationships/notesMaster" Target="/ppt/notesMasters/notesMaster1.xml" Id="R97ac04518e9340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1f7eab6203548c7" /><Relationship Type="http://schemas.openxmlformats.org/officeDocument/2006/relationships/notesMaster" Target="/ppt/notesMasters/notesMaster1.xml" Id="R3e4483608b5744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cd047724cdf40c1" /><Relationship Type="http://schemas.openxmlformats.org/officeDocument/2006/relationships/notesMaster" Target="/ppt/notesMasters/notesMaster1.xml" Id="R916a39e25f7c48f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0e618cf298b4045" /><Relationship Type="http://schemas.openxmlformats.org/officeDocument/2006/relationships/notesMaster" Target="/ppt/notesMasters/notesMaster1.xml" Id="Rdcc447b91c72466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694c5cd09574601" /><Relationship Type="http://schemas.openxmlformats.org/officeDocument/2006/relationships/notesMaster" Target="/ppt/notesMasters/notesMaster1.xml" Id="R00f05ab68bc9485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531056c80ac4b25" /><Relationship Type="http://schemas.openxmlformats.org/officeDocument/2006/relationships/notesMaster" Target="/ppt/notesMasters/notesMaster1.xml" Id="Red7875b09ddb43e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eb1a52c533f4235" /><Relationship Type="http://schemas.openxmlformats.org/officeDocument/2006/relationships/notesMaster" Target="/ppt/notesMasters/notesMaster1.xml" Id="Rbb35d8c1c3e344c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5931c10a7e14088" /><Relationship Type="http://schemas.openxmlformats.org/officeDocument/2006/relationships/notesMaster" Target="/ppt/notesMasters/notesMaster1.xml" Id="R18da9b9918d24f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/Users/yuhang/Downloads/STL/PROJECT_CONTEXT.md</a:t>
            </a:r>
          </a:p>
          <a:p xmlns:a="http://schemas.openxmlformats.org/drawingml/2006/main">
            <a:r>
              <a:t>- /Users/yuhang/Downloads/STL/README.md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/Users/yuhang/Downloads/STL/PROJECT_CONTEXT.md</a:t>
            </a:r>
          </a:p>
          <a:p xmlns:a="http://schemas.openxmlformats.org/drawingml/2006/main">
            <a:r>
              <a:t>- /Users/yuhang/Downloads/STL/docs/stage1_plan.md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/Users/yuhang/Downloads/STL/README.md</a:t>
            </a:r>
          </a:p>
          <a:p xmlns:a="http://schemas.openxmlformats.org/drawingml/2006/main">
            <a:r>
              <a:t>- /Users/yuhang/Downloads/STL/DECISIONS.md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/Users/yuhang/Downloads/STL/docs/CURRENT_STAGE1_STATUS.md</a:t>
            </a:r>
          </a:p>
          <a:p xmlns:a="http://schemas.openxmlformats.org/drawingml/2006/main">
            <a:r>
              <a:t>- /Users/yuhang/Downloads/STL/docs/stage1_plan.md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/Users/yuhang/Downloads/STL/docs/environment_inspection.md</a:t>
            </a:r>
          </a:p>
          <a:p xmlns:a="http://schemas.openxmlformats.org/drawingml/2006/main">
            <a:r>
              <a:t>- /Users/yuhang/Downloads/STL/src/safety_stl/signals.py</a:t>
            </a:r>
          </a:p>
          <a:p xmlns:a="http://schemas.openxmlformats.org/drawingml/2006/main">
            <a:r>
              <a:t>- /Users/yuhang/Downloads/STL/references/code-notes/safety-gymnasium-selected/goal_level1.py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/Users/yuhang/Downloads/STL/configs/stage1_rule.yaml</a:t>
            </a:r>
          </a:p>
          <a:p xmlns:a="http://schemas.openxmlformats.org/drawingml/2006/main">
            <a:r>
              <a:t>- /Users/yuhang/Downloads/STL/docs/stage1_rule_monitor_spec.md</a:t>
            </a:r>
          </a:p>
          <a:p xmlns:a="http://schemas.openxmlformats.org/drawingml/2006/main">
            <a:r>
              <a:t>- /Users/yuhang/Downloads/STL/docs/rule_calibration_report.md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/Users/yuhang/Downloads/STL/docs/stage1_rule_monitor_spec.md</a:t>
            </a:r>
          </a:p>
          <a:p xmlns:a="http://schemas.openxmlformats.org/drawingml/2006/main">
            <a:r>
              <a:t>- /Users/yuhang/Downloads/STL/src/safety_stl/monitor.py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/Users/yuhang/Downloads/STL/docs/rule_calibration_report.md</a:t>
            </a:r>
          </a:p>
          <a:p xmlns:a="http://schemas.openxmlformats.org/drawingml/2006/main">
            <a:r>
              <a:t>- /Users/yuhang/Downloads/STL/docs/monitor_agreement_report.md</a:t>
            </a:r>
          </a:p>
          <a:p xmlns:a="http://schemas.openxmlformats.org/drawingml/2006/main">
            <a:r>
              <a:t>- /Users/yuhang/Downloads/STL/docs/visualization.md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/Users/yuhang/Downloads/STL/docs/CURRENT_STAGE1_STATUS.md</a:t>
            </a:r>
          </a:p>
          <a:p xmlns:a="http://schemas.openxmlformats.org/drawingml/2006/main">
            <a:r>
              <a:t>- /Users/yuhang/Downloads/STL/docs/stage1_plan.md</a:t>
            </a:r>
          </a:p>
          <a:p xmlns:a="http://schemas.openxmlformats.org/drawingml/2006/main">
            <a:r>
              <a:t>- /Users/yuhang/Downloads/STL/AGENTS.md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56070849a04fd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9744434ecb4ce9" /><Relationship Type="http://schemas.openxmlformats.org/officeDocument/2006/relationships/slideLayout" Target="/ppt/slideLayouts/slideLayout1.xml" Id="R1d47936b06e348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47936b06e348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745ce0f4f745a5" /><Relationship Type="http://schemas.openxmlformats.org/officeDocument/2006/relationships/notesSlide" Target="/ppt/notesSlides/notesSlide1.xml" Id="R9821270bf6ab468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db1e920a8b4021" /><Relationship Type="http://schemas.openxmlformats.org/officeDocument/2006/relationships/notesSlide" Target="/ppt/notesSlides/notesSlide2.xml" Id="R30214c1832e840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149dea389d41db" /><Relationship Type="http://schemas.openxmlformats.org/officeDocument/2006/relationships/notesSlide" Target="/ppt/notesSlides/notesSlide3.xml" Id="R6f1fcc178b5c426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19e223459547a4" /><Relationship Type="http://schemas.openxmlformats.org/officeDocument/2006/relationships/notesSlide" Target="/ppt/notesSlides/notesSlide4.xml" Id="Re68494666d5545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1d69c9b0f14eb3" /><Relationship Type="http://schemas.openxmlformats.org/officeDocument/2006/relationships/notesSlide" Target="/ppt/notesSlides/notesSlide5.xml" Id="R5d17260bad42458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6d3160939e4fe2" /><Relationship Type="http://schemas.openxmlformats.org/officeDocument/2006/relationships/notesSlide" Target="/ppt/notesSlides/notesSlide6.xml" Id="R5e5249cdd062454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dee91c84454c0c" /><Relationship Type="http://schemas.openxmlformats.org/officeDocument/2006/relationships/notesSlide" Target="/ppt/notesSlides/notesSlide7.xml" Id="R19b53a2a5aa04b5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14f1d33d554e8a" /><Relationship Type="http://schemas.openxmlformats.org/officeDocument/2006/relationships/notesSlide" Target="/ppt/notesSlides/notesSlide8.xml" Id="R7f2bf6f2ffb74f9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8989c3ae024ece" /><Relationship Type="http://schemas.openxmlformats.org/officeDocument/2006/relationships/notesSlide" Target="/ppt/notesSlides/notesSlide9.xml" Id="R1ba8995a2f834e7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itle-1">
            <a:extLst xmlns:a="http://schemas.openxmlformats.org/drawingml/2006/main">
              <a:ext uri="{FF2B5EF4-FFF2-40B4-BE49-F238E27FC236}">
                <a16:creationId xmlns:a16="http://schemas.microsoft.com/office/drawing/2014/main" id="{5700EDED-6A8C-4438-8988-9234C39D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51515"/>
                </a:solidFill>
              </a:defRPr>
            </a:pPr>
            <a:r>
              <a:rPr sz="2775" b="1">
                <a:solidFill>
                  <a:srgbClr val="151515"/>
                </a:solidFill>
              </a:rPr>
              <a:t>The Complete Goal: Language to Safer RL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E71A1F-E996-4F4D-9591-9B4C7E73D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000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9A9A9A"/>
                </a:solidFill>
              </a:defRPr>
            </a:pPr>
            <a:r>
              <a:rPr sz="1350" b="0">
                <a:solidFill>
                  <a:srgbClr val="9A9A9A"/>
                </a:solidFill>
              </a:rPr>
              <a:t>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17C876-56FD-4D51-8561-41A87913E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123950"/>
            <a:ext cx="99822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19050">
            <a:solidFill>
              <a:srgbClr val="F3702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A825AF-380B-444B-A7C2-103F22D07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390650"/>
            <a:ext cx="9220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51515"/>
                </a:solidFill>
              </a:defRPr>
            </a:pPr>
            <a:r>
              <a:rPr sz="2025" b="1">
                <a:solidFill>
                  <a:srgbClr val="151515"/>
                </a:solidFill>
              </a:rPr>
              <a:t>"Reach the goal. If you get too close to a hazard, return to a safe distance within the allowed time."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F1E900-24EF-4750-B134-ECCC1390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143250"/>
            <a:ext cx="4381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0">
            <a:solidFill>
              <a:srgbClr val="F3702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F6F69D-3DBC-400D-A3E3-A9C39641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143250"/>
            <a:ext cx="4381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0">
            <a:solidFill>
              <a:srgbClr val="F3702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87148E-AE9B-4C79-BC5D-40B8459B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143250"/>
            <a:ext cx="4381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0">
            <a:solidFill>
              <a:srgbClr val="F3702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7FEE71-EEA1-4D65-AC2E-588594B6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143250"/>
            <a:ext cx="4381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0">
            <a:solidFill>
              <a:srgbClr val="F3702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C6899B-A559-46AA-A565-9C133B7D6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17716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4288">
            <a:solidFill>
              <a:srgbClr val="B53A2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26FFB5-9C71-4E9B-8979-685DE8BB7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09900"/>
            <a:ext cx="1504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51515"/>
                </a:solidFill>
              </a:defRPr>
            </a:pPr>
            <a:r>
              <a:rPr sz="1575" b="1">
                <a:solidFill>
                  <a:srgbClr val="151515"/>
                </a:solidFill>
              </a:rPr>
              <a:t>User</a:t>
            </a:r>
          </a:p>
          <a:p xmlns:a="http://schemas.openxmlformats.org/drawingml/2006/main">
            <a:pPr algn="ctr">
              <a:defRPr sz="1575" b="1">
                <a:solidFill>
                  <a:srgbClr val="151515"/>
                </a:solidFill>
              </a:defRPr>
            </a:pPr>
            <a:r>
              <a:rPr sz="1575" b="1">
                <a:solidFill>
                  <a:srgbClr val="151515"/>
                </a:solidFill>
              </a:rPr>
              <a:t>command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62110B-37E6-4319-8BB3-37A11E243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47950"/>
            <a:ext cx="17716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7D8"/>
          </a:solidFill>
          <a:ln xmlns:a="http://schemas.openxmlformats.org/drawingml/2006/main" w="14288">
            <a:solidFill>
              <a:srgbClr val="A66A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293C34-1DE9-4DC0-B04C-936F8F58D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009900"/>
            <a:ext cx="1504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51515"/>
                </a:solidFill>
              </a:defRPr>
            </a:pPr>
            <a:r>
              <a:rPr sz="1575" b="1">
                <a:solidFill>
                  <a:srgbClr val="151515"/>
                </a:solidFill>
              </a:rPr>
              <a:t>Translate safety</a:t>
            </a:r>
          </a:p>
          <a:p xmlns:a="http://schemas.openxmlformats.org/drawingml/2006/main">
            <a:pPr algn="ctr">
              <a:defRPr sz="1575" b="1">
                <a:solidFill>
                  <a:srgbClr val="151515"/>
                </a:solidFill>
              </a:defRPr>
            </a:pPr>
            <a:r>
              <a:rPr sz="1575" b="1">
                <a:solidFill>
                  <a:srgbClr val="151515"/>
                </a:solidFill>
              </a:rPr>
              <a:t>to STL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61122B-57D7-4391-B4FE-2A513A92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47950"/>
            <a:ext cx="17716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4288">
            <a:solidFill>
              <a:srgbClr val="2F6FA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D98B6F-408B-470C-9D02-E21095DB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009900"/>
            <a:ext cx="1504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51515"/>
                </a:solidFill>
              </a:defRPr>
            </a:pPr>
            <a:r>
              <a:rPr sz="1575" b="1">
                <a:solidFill>
                  <a:srgbClr val="151515"/>
                </a:solidFill>
              </a:rPr>
              <a:t>Monitor the</a:t>
            </a:r>
          </a:p>
          <a:p xmlns:a="http://schemas.openxmlformats.org/drawingml/2006/main">
            <a:pPr algn="ctr">
              <a:defRPr sz="1575" b="1">
                <a:solidFill>
                  <a:srgbClr val="151515"/>
                </a:solidFill>
              </a:defRPr>
            </a:pPr>
            <a:r>
              <a:rPr sz="1575" b="1">
                <a:solidFill>
                  <a:srgbClr val="151515"/>
                </a:solidFill>
              </a:rPr>
              <a:t>trajectory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6EEB66-E1E9-420F-BCCB-61BD2A821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47950"/>
            <a:ext cx="17716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0ECFF"/>
          </a:solidFill>
          <a:ln xmlns:a="http://schemas.openxmlformats.org/drawingml/2006/main" w="14288">
            <a:solidFill>
              <a:srgbClr val="6650A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711367-838F-4CC4-8416-6C0B6A74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009900"/>
            <a:ext cx="1504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51515"/>
                </a:solidFill>
              </a:defRPr>
            </a:pPr>
            <a:r>
              <a:rPr sz="1575" b="1">
                <a:solidFill>
                  <a:srgbClr val="151515"/>
                </a:solidFill>
              </a:rPr>
              <a:t>Produce an</a:t>
            </a:r>
          </a:p>
          <a:p xmlns:a="http://schemas.openxmlformats.org/drawingml/2006/main">
            <a:pPr algn="ctr">
              <a:defRPr sz="1575" b="1">
                <a:solidFill>
                  <a:srgbClr val="151515"/>
                </a:solidFill>
              </a:defRPr>
            </a:pPr>
            <a:r>
              <a:rPr sz="1575" b="1">
                <a:solidFill>
                  <a:srgbClr val="151515"/>
                </a:solidFill>
              </a:rPr>
              <a:t>RL cost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BA2827-04DC-4D09-9B8B-1E5CD999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47950"/>
            <a:ext cx="17716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4288">
            <a:solidFill>
              <a:srgbClr val="2E7D4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71C85F-2B37-4950-81AE-490A6A6B5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009900"/>
            <a:ext cx="1504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51515"/>
                </a:solidFill>
              </a:defRPr>
            </a:pPr>
            <a:r>
              <a:rPr sz="1575" b="1">
                <a:solidFill>
                  <a:srgbClr val="151515"/>
                </a:solidFill>
              </a:rPr>
              <a:t>Learn task +</a:t>
            </a:r>
          </a:p>
          <a:p xmlns:a="http://schemas.openxmlformats.org/drawingml/2006/main">
            <a:pPr algn="ctr">
              <a:defRPr sz="1575" b="1">
                <a:solidFill>
                  <a:srgbClr val="151515"/>
                </a:solidFill>
              </a:defRPr>
            </a:pPr>
            <a:r>
              <a:rPr sz="1575" b="1">
                <a:solidFill>
                  <a:srgbClr val="151515"/>
                </a:solidFill>
              </a:rPr>
              <a:t>safer behavior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6C2B40-21D4-46B3-8E4D-5A7625B36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14850"/>
            <a:ext cx="92583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5E5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C52ECE-B2F9-4790-BE84-391092D5D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10125"/>
            <a:ext cx="853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84E0B"/>
                </a:solidFill>
              </a:defRPr>
            </a:pPr>
            <a:r>
              <a:rPr sz="1800" b="1">
                <a:solidFill>
                  <a:srgbClr val="C84E0B"/>
                </a:solidFill>
              </a:rPr>
              <a:t>"Too close -&gt; recover in time" becomes a rule, a trajectory check, a safety cost, and finally a training signal.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32FEAD-A6E0-408B-8647-DB30A9E02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A9A9A"/>
                </a:solidFill>
              </a:defRPr>
            </a:pPr>
            <a:r>
              <a:rPr sz="975" b="0">
                <a:solidFill>
                  <a:srgbClr val="9A9A9A"/>
                </a:solidFill>
              </a:rPr>
              <a:t>Language-Grounded STL Safe RL | Stage I progress</a:t>
            </a:r>
          </a:p>
        </p:txBody>
      </p:sp>
    </p:spTree>
    <p:extLst>
      <p:ext uri="{BB962C8B-B14F-4D97-AF65-F5344CB8AC3E}">
        <p14:creationId xmlns:p14="http://schemas.microsoft.com/office/powerpoint/2010/main" val="2582205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itle-2">
            <a:extLst xmlns:a="http://schemas.openxmlformats.org/drawingml/2006/main">
              <a:ext uri="{FF2B5EF4-FFF2-40B4-BE49-F238E27FC236}">
                <a16:creationId xmlns:a16="http://schemas.microsoft.com/office/drawing/2014/main" id="{B61899F4-8FE1-46AC-8D9D-EFF86459F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51515"/>
                </a:solidFill>
              </a:defRPr>
            </a:pPr>
            <a:r>
              <a:rPr sz="2775" b="1">
                <a:solidFill>
                  <a:srgbClr val="151515"/>
                </a:solidFill>
              </a:rPr>
              <a:t>Why the Research Is Split into Three Stages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F0833E-2D95-4232-A9C1-655C496F9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000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9A9A9A"/>
                </a:solidFill>
              </a:defRPr>
            </a:pPr>
            <a:r>
              <a:rPr sz="1350" b="0">
                <a:solidFill>
                  <a:srgbClr val="9A9A9A"/>
                </a:solidFill>
              </a:rPr>
              <a:t>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B2D903-538F-484D-A46A-2032E4CC0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04900"/>
            <a:ext cx="752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82828"/>
                </a:solidFill>
              </a:defRPr>
            </a:pPr>
            <a:r>
              <a:rPr sz="1800" b="1">
                <a:solidFill>
                  <a:srgbClr val="282828"/>
                </a:solidFill>
              </a:rPr>
              <a:t>The full chain contains three independent questions: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55E8A5-B09F-444D-9F5F-E72E88B1F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3333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9525">
            <a:solidFill>
              <a:srgbClr val="F3702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D39275-AB4C-4B81-85BE-A72E5F415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84E0B"/>
                </a:solidFill>
              </a:defRPr>
            </a:pPr>
            <a:r>
              <a:rPr sz="1725" b="1">
                <a:solidFill>
                  <a:srgbClr val="C84E0B"/>
                </a:solidFill>
              </a:rPr>
              <a:t>1. STL execution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A55316-3EC9-43BD-AA84-F6EBDEA3C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3028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6666"/>
                </a:solidFill>
              </a:defRPr>
            </a:pPr>
            <a:r>
              <a:rPr sz="1425" b="0">
                <a:solidFill>
                  <a:srgbClr val="666666"/>
                </a:solidFill>
              </a:rPr>
              <a:t>Can a correct STL rule be monitored and used by RL?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1CF8B3-7A15-4906-B837-F77B3A43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62100"/>
            <a:ext cx="3333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7D8"/>
          </a:solidFill>
          <a:ln xmlns:a="http://schemas.openxmlformats.org/drawingml/2006/main" w="9525">
            <a:solidFill>
              <a:srgbClr val="A66A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9C4E96-748F-4124-AF89-A213A357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1714500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A66A00"/>
                </a:solidFill>
              </a:defRPr>
            </a:pPr>
            <a:r>
              <a:rPr sz="1725" b="1">
                <a:solidFill>
                  <a:srgbClr val="A66A00"/>
                </a:solidFill>
              </a:rPr>
              <a:t>2. Language translation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3B03C5-D4A1-4C2D-8413-11E8C2D4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095500"/>
            <a:ext cx="3028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6666"/>
                </a:solidFill>
              </a:defRPr>
            </a:pPr>
            <a:r>
              <a:rPr sz="1425" b="0">
                <a:solidFill>
                  <a:srgbClr val="666666"/>
                </a:solidFill>
              </a:rPr>
              <a:t>Can natural language be translated into STL accurately?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B63481-3B33-4A1D-A99A-0C44F433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62100"/>
            <a:ext cx="3333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2F6FA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F14C56-C2BD-4785-AAA2-BE4BCFF6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714500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6FAE"/>
                </a:solidFill>
              </a:defRPr>
            </a:pPr>
            <a:r>
              <a:rPr sz="1725" b="1">
                <a:solidFill>
                  <a:srgbClr val="2F6FAE"/>
                </a:solidFill>
              </a:rPr>
              <a:t>3. Broader setting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C73099-56A7-42D4-A8D4-8171CE7B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95500"/>
            <a:ext cx="3028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6666"/>
                </a:solidFill>
              </a:defRPr>
            </a:pPr>
            <a:r>
              <a:rPr sz="1425" b="0">
                <a:solidFill>
                  <a:srgbClr val="666666"/>
                </a:solidFill>
              </a:rPr>
              <a:t>What changes with vague language, complex environments, and real robots?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3648C1-C6FD-411E-8221-B94ECEB24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9565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82828"/>
                </a:solidFill>
              </a:defRPr>
            </a:pPr>
            <a:r>
              <a:rPr sz="1800" b="1">
                <a:solidFill>
                  <a:srgbClr val="282828"/>
                </a:solidFill>
              </a:rPr>
              <a:t>If one end-to-end experiment fails, the cause is ambiguous: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7F7AF2-949E-482A-A05E-8AF6252D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18669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1906">
            <a:solidFill>
              <a:srgbClr val="B53A2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533440-C0E0-4523-B6A7-B9D07CC84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1600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1515"/>
                </a:solidFill>
              </a:defRPr>
            </a:pPr>
            <a:r>
              <a:rPr sz="1500" b="1">
                <a:solidFill>
                  <a:srgbClr val="151515"/>
                </a:solidFill>
              </a:rPr>
              <a:t>Translation</a:t>
            </a:r>
          </a:p>
          <a:p xmlns:a="http://schemas.openxmlformats.org/drawingml/2006/main">
            <a:pPr algn="ctr">
              <a:defRPr sz="1500" b="1">
                <a:solidFill>
                  <a:srgbClr val="151515"/>
                </a:solidFill>
              </a:defRPr>
            </a:pPr>
            <a:r>
              <a:rPr sz="1500" b="1">
                <a:solidFill>
                  <a:srgbClr val="151515"/>
                </a:solidFill>
              </a:rPr>
              <a:t>was wrong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45E8FD-AAE1-4181-A2AB-1F1892C75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90950"/>
            <a:ext cx="18669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1906">
            <a:solidFill>
              <a:srgbClr val="2F6FA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060771-767D-4D52-A663-0D44CF11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57650"/>
            <a:ext cx="1600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1515"/>
                </a:solidFill>
              </a:defRPr>
            </a:pPr>
            <a:r>
              <a:rPr sz="1500" b="1">
                <a:solidFill>
                  <a:srgbClr val="151515"/>
                </a:solidFill>
              </a:rPr>
              <a:t>Grounding</a:t>
            </a:r>
          </a:p>
          <a:p xmlns:a="http://schemas.openxmlformats.org/drawingml/2006/main">
            <a:pPr algn="ctr">
              <a:defRPr sz="1500" b="1">
                <a:solidFill>
                  <a:srgbClr val="151515"/>
                </a:solidFill>
              </a:defRPr>
            </a:pPr>
            <a:r>
              <a:rPr sz="1500" b="1">
                <a:solidFill>
                  <a:srgbClr val="151515"/>
                </a:solidFill>
              </a:rPr>
              <a:t>was wrong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A27688-B482-4FD9-A825-0C5CB10A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790950"/>
            <a:ext cx="18669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1906">
            <a:solidFill>
              <a:srgbClr val="2E7D4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AED8A3-6EA6-4DD1-9B34-1FCBE266C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057650"/>
            <a:ext cx="1600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1515"/>
                </a:solidFill>
              </a:defRPr>
            </a:pPr>
            <a:r>
              <a:rPr sz="1500" b="1">
                <a:solidFill>
                  <a:srgbClr val="151515"/>
                </a:solidFill>
              </a:rPr>
              <a:t>Monitor</a:t>
            </a:r>
          </a:p>
          <a:p xmlns:a="http://schemas.openxmlformats.org/drawingml/2006/main">
            <a:pPr algn="ctr">
              <a:defRPr sz="1500" b="1">
                <a:solidFill>
                  <a:srgbClr val="151515"/>
                </a:solidFill>
              </a:defRPr>
            </a:pPr>
            <a:r>
              <a:rPr sz="1500" b="1">
                <a:solidFill>
                  <a:srgbClr val="151515"/>
                </a:solidFill>
              </a:rPr>
              <a:t>was wrong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611720-9405-4057-AFA3-3F3F78C4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790950"/>
            <a:ext cx="18669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0ECFF"/>
          </a:solidFill>
          <a:ln xmlns:a="http://schemas.openxmlformats.org/drawingml/2006/main" w="11906">
            <a:solidFill>
              <a:srgbClr val="6650A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128F46-802B-4C1F-98EF-F68067C9C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057650"/>
            <a:ext cx="1600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1515"/>
                </a:solidFill>
              </a:defRPr>
            </a:pPr>
            <a:r>
              <a:rPr sz="1500" b="1">
                <a:solidFill>
                  <a:srgbClr val="151515"/>
                </a:solidFill>
              </a:rPr>
              <a:t>Cost never</a:t>
            </a:r>
          </a:p>
          <a:p xmlns:a="http://schemas.openxmlformats.org/drawingml/2006/main">
            <a:pPr algn="ctr">
              <a:defRPr sz="1500" b="1">
                <a:solidFill>
                  <a:srgbClr val="151515"/>
                </a:solidFill>
              </a:defRPr>
            </a:pPr>
            <a:r>
              <a:rPr sz="1500" b="1">
                <a:solidFill>
                  <a:srgbClr val="151515"/>
                </a:solidFill>
              </a:rPr>
              <a:t>reached RL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AEA766-3A70-408D-B598-468103AE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790950"/>
            <a:ext cx="18669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4F4F4"/>
          </a:solidFill>
          <a:ln xmlns:a="http://schemas.openxmlformats.org/drawingml/2006/main" w="11906">
            <a:solidFill>
              <a:srgbClr val="66666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96BFEB-CDD1-4E24-933D-446FE0285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057650"/>
            <a:ext cx="1600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1515"/>
                </a:solidFill>
              </a:defRPr>
            </a:pPr>
            <a:r>
              <a:rPr sz="1500" b="1">
                <a:solidFill>
                  <a:srgbClr val="151515"/>
                </a:solidFill>
              </a:rPr>
              <a:t>RL did not</a:t>
            </a:r>
          </a:p>
          <a:p xmlns:a="http://schemas.openxmlformats.org/drawingml/2006/main">
            <a:pPr algn="ctr">
              <a:defRPr sz="1500" b="1">
                <a:solidFill>
                  <a:srgbClr val="151515"/>
                </a:solidFill>
              </a:defRPr>
            </a:pPr>
            <a:r>
              <a:rPr sz="1500" b="1">
                <a:solidFill>
                  <a:srgbClr val="151515"/>
                </a:solidFill>
              </a:rPr>
              <a:t>learn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58E016-7B89-4427-B99A-53A645DC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334000"/>
            <a:ext cx="792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C84E0B"/>
                </a:solidFill>
              </a:defRPr>
            </a:pPr>
            <a:r>
              <a:rPr sz="2025" b="1">
                <a:solidFill>
                  <a:srgbClr val="C84E0B"/>
                </a:solidFill>
              </a:rPr>
              <a:t>Separating the stages makes each failure interpretable.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CDDA2C-0BA7-4D0B-9D56-92E1DC52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A9A9A"/>
                </a:solidFill>
              </a:defRPr>
            </a:pPr>
            <a:r>
              <a:rPr sz="975" b="0">
                <a:solidFill>
                  <a:srgbClr val="9A9A9A"/>
                </a:solidFill>
              </a:rPr>
              <a:t>Language-Grounded STL Safe RL | Stage I progress</a:t>
            </a:r>
          </a:p>
        </p:txBody>
      </p:sp>
    </p:spTree>
    <p:extLst>
      <p:ext uri="{BB962C8B-B14F-4D97-AF65-F5344CB8AC3E}">
        <p14:creationId xmlns:p14="http://schemas.microsoft.com/office/powerpoint/2010/main" val="2315099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3">
            <a:extLst xmlns:a="http://schemas.openxmlformats.org/drawingml/2006/main">
              <a:ext uri="{FF2B5EF4-FFF2-40B4-BE49-F238E27FC236}">
                <a16:creationId xmlns:a16="http://schemas.microsoft.com/office/drawing/2014/main" id="{8B97C843-1788-4490-A180-C73A776AE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51515"/>
                </a:solidFill>
              </a:defRPr>
            </a:pPr>
            <a:r>
              <a:rPr sz="2775" b="1">
                <a:solidFill>
                  <a:srgbClr val="151515"/>
                </a:solidFill>
              </a:rPr>
              <a:t>Each Stage Answers One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162919-943A-4D4E-A6B1-EE88FB1F8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000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9A9A9A"/>
                </a:solidFill>
              </a:defRPr>
            </a:pPr>
            <a:r>
              <a:rPr sz="1350" b="0">
                <a:solidFill>
                  <a:srgbClr val="9A9A9A"/>
                </a:solidFill>
              </a:rPr>
              <a:t>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0B50C9-67DB-4F07-8B97-DA46D73A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724150"/>
            <a:ext cx="5334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0">
            <a:solidFill>
              <a:srgbClr val="F3702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7EDEA6-DAEE-4D39-9DA3-CD284E247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724150"/>
            <a:ext cx="5334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0">
            <a:solidFill>
              <a:srgbClr val="F3702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6AA645-11A0-4ABB-B1CA-0787580DE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321945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28575">
            <a:solidFill>
              <a:srgbClr val="F3702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F290C6-6B95-4665-AD0C-501981A49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84E0B"/>
                </a:solidFill>
              </a:defRPr>
            </a:pPr>
            <a:r>
              <a:rPr sz="1950" b="1">
                <a:solidFill>
                  <a:srgbClr val="C84E0B"/>
                </a:solidFill>
              </a:rPr>
              <a:t>Stage I: Gold STL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F08E1E-3A72-4B76-BA55-0CE8C8174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57400"/>
            <a:ext cx="291465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6666"/>
                </a:solidFill>
              </a:defRPr>
            </a:pPr>
            <a:r>
              <a:rPr sz="1575" b="0">
                <a:solidFill>
                  <a:srgbClr val="666666"/>
                </a:solidFill>
              </a:rPr>
              <a:t>A human provides one correct STL rule.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666666"/>
                </a:solidFill>
              </a:defRPr>
            </a:pPr>
            <a:r>
              <a:rPr sz="1575" b="0">
                <a:solidFill>
                  <a:srgbClr val="666666"/>
                </a:solidFill>
              </a:rPr>
              <a:t>Validate STL -&gt; monitor -&gt; cost -&gt; Safe RL.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E47740-66CF-4236-83BD-CE242C70B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181100"/>
            <a:ext cx="12001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9525">
            <a:solidFill>
              <a:srgbClr val="C84E0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898DE2-68F8-4E2B-AB7E-C820131E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228725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84E0B"/>
                </a:solidFill>
              </a:defRPr>
            </a:pPr>
            <a:r>
              <a:rPr sz="1050" b="1">
                <a:solidFill>
                  <a:srgbClr val="C84E0B"/>
                </a:solidFill>
              </a:rPr>
              <a:t>CURRENT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0217AC-CA8A-43D8-B3E5-439A6E65A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524000"/>
            <a:ext cx="321945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7D8"/>
          </a:solidFill>
          <a:ln xmlns:a="http://schemas.openxmlformats.org/drawingml/2006/main" w="9525">
            <a:solidFill>
              <a:srgbClr val="A66A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6132A6-773B-4241-8676-0744D59FF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7640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66A00"/>
                </a:solidFill>
              </a:defRPr>
            </a:pPr>
            <a:r>
              <a:rPr sz="1800" b="1">
                <a:solidFill>
                  <a:srgbClr val="A66A00"/>
                </a:solidFill>
              </a:rPr>
              <a:t>Stage II: Controlled NL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837B03-B0A5-4E94-B775-4D84D893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57400"/>
            <a:ext cx="291465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666"/>
                </a:solidFill>
              </a:defRPr>
            </a:pPr>
            <a:r>
              <a:rPr sz="1500" b="0">
                <a:solidFill>
                  <a:srgbClr val="666666"/>
                </a:solidFill>
              </a:rPr>
              <a:t>Use clear commands with explicit objects, distances, and deadlines.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666666"/>
                </a:solidFill>
              </a:defRPr>
            </a:pPr>
            <a:r>
              <a:rPr sz="1500" b="0">
                <a:solidFill>
                  <a:srgbClr val="666666"/>
                </a:solidFill>
              </a:rPr>
              <a:t>Validate NL -&gt; STL -&gt; Safe RL.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E1EBEA-EE51-4D45-94B4-2629B835C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524000"/>
            <a:ext cx="321945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2F6FA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640AF5-9928-4AC3-A113-BBA8C886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7640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6FAE"/>
                </a:solidFill>
              </a:defRPr>
            </a:pPr>
            <a:r>
              <a:rPr sz="1800" b="1">
                <a:solidFill>
                  <a:srgbClr val="2F6FAE"/>
                </a:solidFill>
              </a:rPr>
              <a:t>Stage III: Broader tests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421B4A-3B5E-4E95-84D6-FB4E3750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57400"/>
            <a:ext cx="291465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666"/>
                </a:solidFill>
              </a:defRPr>
            </a:pPr>
            <a:r>
              <a:rPr sz="1500" b="0">
                <a:solidFill>
                  <a:srgbClr val="666666"/>
                </a:solidFill>
              </a:rPr>
              <a:t>Add vague language, moving hazards, sensing error, more STL structures, and more complex environments.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5685BD-52C5-4850-891E-D2A40399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953000"/>
            <a:ext cx="8191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5E5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D397D2-65BE-4432-A4FD-E8504F23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181600"/>
            <a:ext cx="750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51515"/>
                </a:solidFill>
              </a:defRPr>
            </a:pPr>
            <a:r>
              <a:rPr sz="1800" b="1">
                <a:solidFill>
                  <a:srgbClr val="151515"/>
                </a:solidFill>
              </a:rPr>
              <a:t>Current work is Stage I: language translation is intentionally excluded.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64F428-630E-4006-B356-D5B4E634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A9A9A"/>
                </a:solidFill>
              </a:defRPr>
            </a:pPr>
            <a:r>
              <a:rPr sz="975" b="0">
                <a:solidFill>
                  <a:srgbClr val="9A9A9A"/>
                </a:solidFill>
              </a:rPr>
              <a:t>Language-Grounded STL Safe RL | Stage I progress</a:t>
            </a:r>
          </a:p>
        </p:txBody>
      </p:sp>
    </p:spTree>
    <p:extLst>
      <p:ext uri="{BB962C8B-B14F-4D97-AF65-F5344CB8AC3E}">
        <p14:creationId xmlns:p14="http://schemas.microsoft.com/office/powerpoint/2010/main" val="20531092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title-4">
            <a:extLst xmlns:a="http://schemas.openxmlformats.org/drawingml/2006/main">
              <a:ext uri="{FF2B5EF4-FFF2-40B4-BE49-F238E27FC236}">
                <a16:creationId xmlns:a16="http://schemas.microsoft.com/office/drawing/2014/main" id="{BFE0B2F3-CAEC-4EC7-B71C-98E57EC2D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51515"/>
                </a:solidFill>
              </a:defRPr>
            </a:pPr>
            <a:r>
              <a:rPr sz="2775" b="1">
                <a:solidFill>
                  <a:srgbClr val="151515"/>
                </a:solidFill>
              </a:rPr>
              <a:t>Stage I Tests the Downstream Chain First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C76586-30B0-4705-8C81-742D811ED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000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9A9A9A"/>
                </a:solidFill>
              </a:defRPr>
            </a:pPr>
            <a:r>
              <a:rPr sz="1350" b="0">
                <a:solidFill>
                  <a:srgbClr val="9A9A9A"/>
                </a:solidFill>
              </a:rPr>
              <a:t>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B5DDB9-9B7F-4921-984B-87923137D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104900"/>
            <a:ext cx="100584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0ECFF"/>
          </a:solidFill>
          <a:ln xmlns:a="http://schemas.openxmlformats.org/drawingml/2006/main" w="14288">
            <a:solidFill>
              <a:srgbClr val="6650A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69BEC5-681A-4B79-852D-11BB006B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390650"/>
            <a:ext cx="9258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51515"/>
                </a:solidFill>
              </a:defRPr>
            </a:pPr>
            <a:r>
              <a:rPr sz="1875" b="1">
                <a:solidFill>
                  <a:srgbClr val="151515"/>
                </a:solidFill>
              </a:rPr>
              <a:t>Can one correct STL rule monitor trajectories, produce a safety cost, and help Safe RL reduce temporal violations while still reaching the goal?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A3C378-E42B-427C-9A99-366559A8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05150"/>
            <a:ext cx="4953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D4F"/>
          </a:solidFill>
          <a:ln xmlns:a="http://schemas.openxmlformats.org/drawingml/2006/main" w="0">
            <a:solidFill>
              <a:srgbClr val="2E7D4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2FEDE7-06B4-4DB8-B64D-64AD8D761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105150"/>
            <a:ext cx="4953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D4F"/>
          </a:solidFill>
          <a:ln xmlns:a="http://schemas.openxmlformats.org/drawingml/2006/main" w="0">
            <a:solidFill>
              <a:srgbClr val="2E7D4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C67F12-B408-4FC4-AEA3-7CA91DEC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76800"/>
            <a:ext cx="4953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0">
            <a:solidFill>
              <a:srgbClr val="F3702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C16741-0AD9-4266-B982-1DE48DA55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876800"/>
            <a:ext cx="4953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66666"/>
          </a:solidFill>
          <a:ln xmlns:a="http://schemas.openxmlformats.org/drawingml/2006/main" w="0">
            <a:solidFill>
              <a:srgbClr val="66666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021359-8A24-4969-BB0A-DCB6D975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28900"/>
            <a:ext cx="3048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4288">
            <a:solidFill>
              <a:srgbClr val="2E7D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D19750-D4A3-4A74-85D3-7252EEF8F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62250"/>
            <a:ext cx="11811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7D4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FA8115-81CE-43A8-99FA-00C47C5C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809875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E7D4F"/>
                </a:solidFill>
              </a:defRPr>
            </a:pPr>
            <a:r>
              <a:rPr sz="1050" b="1">
                <a:solidFill>
                  <a:srgbClr val="2E7D4F"/>
                </a:solidFill>
              </a:rPr>
              <a:t>DONE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8D89EB-ABD0-4148-9958-3B67E54EE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400"/>
            <a:ext cx="2552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51515"/>
                </a:solidFill>
              </a:defRPr>
            </a:pPr>
            <a:r>
              <a:rPr sz="1575" b="1">
                <a:solidFill>
                  <a:srgbClr val="151515"/>
                </a:solidFill>
              </a:rPr>
              <a:t>1. Environment</a:t>
            </a:r>
          </a:p>
          <a:p xmlns:a="http://schemas.openxmlformats.org/drawingml/2006/main">
            <a:pPr algn="ctr">
              <a:defRPr sz="1575" b="1">
                <a:solidFill>
                  <a:srgbClr val="151515"/>
                </a:solidFill>
              </a:defRPr>
            </a:pPr>
            <a:r>
              <a:rPr sz="1575" b="1">
                <a:solidFill>
                  <a:srgbClr val="151515"/>
                </a:solidFill>
              </a:rPr>
              <a:t>and signal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632DB6-0235-4173-8C5E-72C6A7392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28900"/>
            <a:ext cx="3048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4288">
            <a:solidFill>
              <a:srgbClr val="2E7D4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E91006-723C-443F-80C3-3D1556D2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762250"/>
            <a:ext cx="11811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7D4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175A9F-3AD3-4AB2-AC90-3524D2B66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809875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E7D4F"/>
                </a:solidFill>
              </a:defRPr>
            </a:pPr>
            <a:r>
              <a:rPr sz="1050" b="1">
                <a:solidFill>
                  <a:srgbClr val="2E7D4F"/>
                </a:solidFill>
              </a:rPr>
              <a:t>DONE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0A6DFD-1C9A-4CE8-882D-E3D308D5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00400"/>
            <a:ext cx="2552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51515"/>
                </a:solidFill>
              </a:defRPr>
            </a:pPr>
            <a:r>
              <a:rPr sz="1575" b="1">
                <a:solidFill>
                  <a:srgbClr val="151515"/>
                </a:solidFill>
              </a:rPr>
              <a:t>2. Rule and</a:t>
            </a:r>
          </a:p>
          <a:p xmlns:a="http://schemas.openxmlformats.org/drawingml/2006/main">
            <a:pPr algn="ctr">
              <a:defRPr sz="1575" b="1">
                <a:solidFill>
                  <a:srgbClr val="151515"/>
                </a:solidFill>
              </a:defRPr>
            </a:pPr>
            <a:r>
              <a:rPr sz="1575" b="1">
                <a:solidFill>
                  <a:srgbClr val="151515"/>
                </a:solidFill>
              </a:rPr>
              <a:t>parameters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A2D380-FBC7-48CF-AE9C-8D22D72A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28900"/>
            <a:ext cx="3048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4288">
            <a:solidFill>
              <a:srgbClr val="2E7D4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8A0868-3362-43F1-8AD1-56E59D164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62250"/>
            <a:ext cx="11811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7D4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B7FD67-C633-4401-8962-520054063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809875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E7D4F"/>
                </a:solidFill>
              </a:defRPr>
            </a:pPr>
            <a:r>
              <a:rPr sz="1050" b="1">
                <a:solidFill>
                  <a:srgbClr val="2E7D4F"/>
                </a:solidFill>
              </a:rPr>
              <a:t>DONE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7C56C3-6B71-4D03-A168-1DF4108E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200400"/>
            <a:ext cx="2552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51515"/>
                </a:solidFill>
              </a:defRPr>
            </a:pPr>
            <a:r>
              <a:rPr sz="1575" b="1">
                <a:solidFill>
                  <a:srgbClr val="151515"/>
                </a:solidFill>
              </a:rPr>
              <a:t>3. Monitor and</a:t>
            </a:r>
          </a:p>
          <a:p xmlns:a="http://schemas.openxmlformats.org/drawingml/2006/main">
            <a:pPr algn="ctr">
              <a:defRPr sz="1575" b="1">
                <a:solidFill>
                  <a:srgbClr val="151515"/>
                </a:solidFill>
              </a:defRPr>
            </a:pPr>
            <a:r>
              <a:rPr sz="1575" b="1">
                <a:solidFill>
                  <a:srgbClr val="151515"/>
                </a:solidFill>
              </a:rPr>
              <a:t>STL cost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BF884D-AF2B-4B26-832C-3BD3BE38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00550"/>
            <a:ext cx="3048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28575">
            <a:solidFill>
              <a:srgbClr val="C84E0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A981AD-721A-47CE-89DE-12F480335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33900"/>
            <a:ext cx="11811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4E0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548984-D621-48CE-9ED6-2ABD6B69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81525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84E0B"/>
                </a:solidFill>
              </a:defRPr>
            </a:pPr>
            <a:r>
              <a:rPr sz="1050" b="1">
                <a:solidFill>
                  <a:srgbClr val="C84E0B"/>
                </a:solidFill>
              </a:rPr>
              <a:t>NEXT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7CD155-7663-4108-80F5-525C50CF8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72050"/>
            <a:ext cx="2552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51515"/>
                </a:solidFill>
              </a:defRPr>
            </a:pPr>
            <a:r>
              <a:rPr sz="1575" b="1">
                <a:solidFill>
                  <a:srgbClr val="151515"/>
                </a:solidFill>
              </a:rPr>
              <a:t>4. OmniSafe</a:t>
            </a:r>
          </a:p>
          <a:p xmlns:a="http://schemas.openxmlformats.org/drawingml/2006/main">
            <a:pPr algn="ctr">
              <a:defRPr sz="1575" b="1">
                <a:solidFill>
                  <a:srgbClr val="151515"/>
                </a:solidFill>
              </a:defRPr>
            </a:pPr>
            <a:r>
              <a:rPr sz="1575" b="1">
                <a:solidFill>
                  <a:srgbClr val="151515"/>
                </a:solidFill>
              </a:rPr>
              <a:t>wrapper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0E9F3D-243C-4097-AA5F-C8442BE1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400550"/>
            <a:ext cx="3048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4F4F4"/>
          </a:solidFill>
          <a:ln xmlns:a="http://schemas.openxmlformats.org/drawingml/2006/main" w="14288">
            <a:solidFill>
              <a:srgbClr val="66666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715F41-49CB-42A1-836D-B46DC64C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533900"/>
            <a:ext cx="11811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666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211ECD-7E7A-43C7-A456-3ABC95E98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81525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6666"/>
                </a:solidFill>
              </a:defRPr>
            </a:pPr>
            <a:r>
              <a:rPr sz="1050" b="1">
                <a:solidFill>
                  <a:srgbClr val="666666"/>
                </a:solidFill>
              </a:rPr>
              <a:t>LATER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FE867D-2686-49E4-ADA2-FCD09A2DB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972050"/>
            <a:ext cx="2552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51515"/>
                </a:solidFill>
              </a:defRPr>
            </a:pPr>
            <a:r>
              <a:rPr sz="1575" b="1">
                <a:solidFill>
                  <a:srgbClr val="151515"/>
                </a:solidFill>
              </a:rPr>
              <a:t>5. Train three</a:t>
            </a:r>
          </a:p>
          <a:p xmlns:a="http://schemas.openxmlformats.org/drawingml/2006/main">
            <a:pPr algn="ctr">
              <a:defRPr sz="1575" b="1">
                <a:solidFill>
                  <a:srgbClr val="151515"/>
                </a:solidFill>
              </a:defRPr>
            </a:pPr>
            <a:r>
              <a:rPr sz="1575" b="1">
                <a:solidFill>
                  <a:srgbClr val="151515"/>
                </a:solidFill>
              </a:rPr>
              <a:t>agents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3C485A-B5D1-482C-92C5-3A49AEA74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00550"/>
            <a:ext cx="3048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4F4F4"/>
          </a:solidFill>
          <a:ln xmlns:a="http://schemas.openxmlformats.org/drawingml/2006/main" w="14288">
            <a:solidFill>
              <a:srgbClr val="66666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D007E0-2944-4822-91F0-3D3B96FA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533900"/>
            <a:ext cx="11811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666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AA0B04-6C87-4204-941C-52AB74BE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581525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6666"/>
                </a:solidFill>
              </a:defRPr>
            </a:pPr>
            <a:r>
              <a:rPr sz="1050" b="1">
                <a:solidFill>
                  <a:srgbClr val="666666"/>
                </a:solidFill>
              </a:rPr>
              <a:t>LATER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E31FE1-C868-4527-8076-C6E6F7F3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972050"/>
            <a:ext cx="2552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51515"/>
                </a:solidFill>
              </a:defRPr>
            </a:pPr>
            <a:r>
              <a:rPr sz="1575" b="1">
                <a:solidFill>
                  <a:srgbClr val="151515"/>
                </a:solidFill>
              </a:rPr>
              <a:t>6. Compare safety</a:t>
            </a:r>
          </a:p>
          <a:p xmlns:a="http://schemas.openxmlformats.org/drawingml/2006/main">
            <a:pPr algn="ctr">
              <a:defRPr sz="1575" b="1">
                <a:solidFill>
                  <a:srgbClr val="151515"/>
                </a:solidFill>
              </a:defRPr>
            </a:pPr>
            <a:r>
              <a:rPr sz="1575" b="1">
                <a:solidFill>
                  <a:srgbClr val="151515"/>
                </a:solidFill>
              </a:rPr>
              <a:t>and task performance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3FB777-FBBA-4618-B27B-EDF15A4E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A9A9A"/>
                </a:solidFill>
              </a:defRPr>
            </a:pPr>
            <a:r>
              <a:rPr sz="975" b="0">
                <a:solidFill>
                  <a:srgbClr val="9A9A9A"/>
                </a:solidFill>
              </a:rPr>
              <a:t>Language-Grounded STL Safe RL | Stage I progress</a:t>
            </a:r>
          </a:p>
        </p:txBody>
      </p:sp>
    </p:spTree>
    <p:extLst>
      <p:ext uri="{BB962C8B-B14F-4D97-AF65-F5344CB8AC3E}">
        <p14:creationId xmlns:p14="http://schemas.microsoft.com/office/powerpoint/2010/main" val="5123312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-5">
            <a:extLst xmlns:a="http://schemas.openxmlformats.org/drawingml/2006/main">
              <a:ext uri="{FF2B5EF4-FFF2-40B4-BE49-F238E27FC236}">
                <a16:creationId xmlns:a16="http://schemas.microsoft.com/office/drawing/2014/main" id="{76ADBF8B-C6BD-4E32-A296-6B01CFED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51515"/>
                </a:solidFill>
              </a:defRPr>
            </a:pPr>
            <a:r>
              <a:rPr sz="2775" b="1">
                <a:solidFill>
                  <a:srgbClr val="151515"/>
                </a:solidFill>
              </a:rPr>
              <a:t>The Benchmark Fixes the Environment and Signal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9E8663-4023-43D7-8B58-84C168A7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000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9A9A9A"/>
                </a:solidFill>
              </a:defRPr>
            </a:pPr>
            <a:r>
              <a:rPr sz="1350" b="0">
                <a:solidFill>
                  <a:srgbClr val="9A9A9A"/>
                </a:solidFill>
              </a:rPr>
              <a:t>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A3468F-CA30-4355-8BA1-D1284E3D5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811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C84E0B"/>
                </a:solidFill>
              </a:defRPr>
            </a:pPr>
            <a:r>
              <a:rPr sz="2175" b="1">
                <a:solidFill>
                  <a:srgbClr val="C84E0B"/>
                </a:solidFill>
              </a:rPr>
              <a:t>SafetyPointGoal1-v0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719A05-3979-44A5-9081-4BD0D2C6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192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6666"/>
                </a:solidFill>
              </a:defRPr>
            </a:pPr>
            <a:r>
              <a:rPr sz="1650" b="0">
                <a:solidFill>
                  <a:srgbClr val="666666"/>
                </a:solidFill>
              </a:rPr>
              <a:t>A simple 2D navigation task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84C9D8-10BD-445C-9EB3-870DE521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51435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5E5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FE5258-6474-4E37-A001-AF3732F8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0030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82828"/>
                </a:solidFill>
              </a:defRPr>
            </a:pPr>
            <a:r>
              <a:rPr sz="1800" b="1">
                <a:solidFill>
                  <a:srgbClr val="282828"/>
                </a:solidFill>
              </a:rPr>
              <a:t>The environment contains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808D42-BA4B-41DE-A175-8BE4C46B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95600"/>
            <a:ext cx="41910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1515"/>
                </a:solidFill>
              </a:defRPr>
            </a:pPr>
            <a:r>
              <a:rPr sz="1650" b="0">
                <a:solidFill>
                  <a:srgbClr val="151515"/>
                </a:solidFill>
              </a:rPr>
              <a:t>- one 2D Point agent</a:t>
            </a:r>
          </a:p>
          <a:p xmlns:a="http://schemas.openxmlformats.org/drawingml/2006/main">
            <a:pPr algn="l">
              <a:defRPr sz="1650" b="0">
                <a:solidFill>
                  <a:srgbClr val="151515"/>
                </a:solidFill>
              </a:defRPr>
            </a:pPr>
            <a:r>
              <a:rPr sz="1650" b="0">
                <a:solidFill>
                  <a:srgbClr val="151515"/>
                </a:solidFill>
              </a:rPr>
              <a:t>- one goal</a:t>
            </a:r>
          </a:p>
          <a:p xmlns:a="http://schemas.openxmlformats.org/drawingml/2006/main">
            <a:pPr algn="l">
              <a:defRPr sz="1650" b="0">
                <a:solidFill>
                  <a:srgbClr val="151515"/>
                </a:solidFill>
              </a:defRPr>
            </a:pPr>
            <a:r>
              <a:rPr sz="1650" b="0">
                <a:solidFill>
                  <a:srgbClr val="151515"/>
                </a:solidFill>
              </a:rPr>
              <a:t>- several static hazards</a:t>
            </a:r>
          </a:p>
          <a:p xmlns:a="http://schemas.openxmlformats.org/drawingml/2006/main">
            <a:pPr algn="l">
              <a:defRPr sz="1650" b="0">
                <a:solidFill>
                  <a:srgbClr val="151515"/>
                </a:solidFill>
              </a:defRPr>
            </a:pPr>
            <a:r>
              <a:rPr sz="1650" b="0">
                <a:solidFill>
                  <a:srgbClr val="151515"/>
                </a:solidFill>
              </a:rPr>
              <a:t>- task reward for reaching the goal</a:t>
            </a:r>
          </a:p>
          <a:p xmlns:a="http://schemas.openxmlformats.org/drawingml/2006/main">
            <a:pPr algn="l">
              <a:defRPr sz="1650" b="0">
                <a:solidFill>
                  <a:srgbClr val="151515"/>
                </a:solidFill>
              </a:defRPr>
            </a:pPr>
            <a:r>
              <a:rPr sz="1650" b="0">
                <a:solidFill>
                  <a:srgbClr val="151515"/>
                </a:solidFill>
              </a:rPr>
              <a:t>- native Safety-Gymnasium hazard cost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AF2042-DE5B-4BAC-B135-7DBA692DC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33600"/>
            <a:ext cx="51435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4288">
            <a:solidFill>
              <a:srgbClr val="2F6FA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B0D719-C0EF-425E-90C2-DA84239D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003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6FAE"/>
                </a:solidFill>
              </a:defRPr>
            </a:pPr>
            <a:r>
              <a:rPr sz="1800" b="1">
                <a:solidFill>
                  <a:srgbClr val="2F6FAE"/>
                </a:solidFill>
              </a:rPr>
              <a:t>Our safety signal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D6F745-CCFB-4BF8-B1F1-BBE4EC26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09900"/>
            <a:ext cx="4114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51515"/>
                </a:solidFill>
              </a:defRPr>
            </a:pPr>
            <a:r>
              <a:rPr sz="2175" b="1">
                <a:solidFill>
                  <a:srgbClr val="151515"/>
                </a:solidFill>
              </a:rPr>
              <a:t>d_t = distance from the agent</a:t>
            </a:r>
          </a:p>
          <a:p xmlns:a="http://schemas.openxmlformats.org/drawingml/2006/main">
            <a:pPr algn="ctr">
              <a:defRPr sz="2175" b="1">
                <a:solidFill>
                  <a:srgbClr val="151515"/>
                </a:solidFill>
              </a:defRPr>
            </a:pPr>
            <a:r>
              <a:rPr sz="2175" b="1">
                <a:solidFill>
                  <a:srgbClr val="151515"/>
                </a:solidFill>
              </a:rPr>
              <a:t>to the nearest hazard center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8A2FC6-B4FA-4228-8B7B-E47C0C05F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95750"/>
            <a:ext cx="3848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66666"/>
                </a:solidFill>
              </a:defRPr>
            </a:pPr>
            <a:r>
              <a:rPr sz="1575" b="0">
                <a:solidFill>
                  <a:srgbClr val="666666"/>
                </a:solidFill>
              </a:rPr>
              <a:t>At every step, the monitor receives one distance value from the environment.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777D98-CFFD-46A3-8DE0-2089978E3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46735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C84E0B"/>
                </a:solidFill>
              </a:defRPr>
            </a:pPr>
            <a:r>
              <a:rPr sz="1875" b="1">
                <a:solidFill>
                  <a:srgbClr val="C84E0B"/>
                </a:solidFill>
              </a:rPr>
              <a:t>This fixes what is measured before we ask whether RL can learn from it.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308AB0-50CD-40DF-BFB0-2E929AE2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A9A9A"/>
                </a:solidFill>
              </a:defRPr>
            </a:pPr>
            <a:r>
              <a:rPr sz="975" b="0">
                <a:solidFill>
                  <a:srgbClr val="9A9A9A"/>
                </a:solidFill>
              </a:rPr>
              <a:t>Language-Grounded STL Safe RL | Stage I progress</a:t>
            </a:r>
          </a:p>
        </p:txBody>
      </p:sp>
    </p:spTree>
    <p:extLst>
      <p:ext uri="{BB962C8B-B14F-4D97-AF65-F5344CB8AC3E}">
        <p14:creationId xmlns:p14="http://schemas.microsoft.com/office/powerpoint/2010/main" val="5486588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6">
            <a:extLst xmlns:a="http://schemas.openxmlformats.org/drawingml/2006/main">
              <a:ext uri="{FF2B5EF4-FFF2-40B4-BE49-F238E27FC236}">
                <a16:creationId xmlns:a16="http://schemas.microsoft.com/office/drawing/2014/main" id="{285E5143-EB9E-4BAF-AE51-35C1036D4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51515"/>
                </a:solidFill>
              </a:defRPr>
            </a:pPr>
            <a:r>
              <a:rPr sz="2775" b="1">
                <a:solidFill>
                  <a:srgbClr val="151515"/>
                </a:solidFill>
              </a:rPr>
              <a:t>One Rule Defines the Recovery Task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3BC70D-F7AC-42C2-A555-5D4F4598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000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9A9A9A"/>
                </a:solidFill>
              </a:defRPr>
            </a:pPr>
            <a:r>
              <a:rPr sz="1350" b="0">
                <a:solidFill>
                  <a:srgbClr val="9A9A9A"/>
                </a:solidFill>
              </a:rPr>
              <a:t>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E28474-2A7D-4A01-8C4E-0BFBF4492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066800"/>
            <a:ext cx="102108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14288">
            <a:solidFill>
              <a:srgbClr val="F3702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472F03-235B-4591-A924-2FC31811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371600"/>
            <a:ext cx="9258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51515"/>
                </a:solidFill>
              </a:defRPr>
            </a:pPr>
            <a:r>
              <a:rPr sz="1950" b="1">
                <a:solidFill>
                  <a:srgbClr val="151515"/>
                </a:solidFill>
              </a:rPr>
              <a:t>When the agent first enters the warning zone, it must return to the safe distance before the deadline.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E6F981-AF93-45D2-8F3E-52ACBD048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82828"/>
                </a:solidFill>
              </a:defRPr>
            </a:pPr>
            <a:r>
              <a:rPr sz="1800" b="1">
                <a:solidFill>
                  <a:srgbClr val="282828"/>
                </a:solidFill>
              </a:rPr>
              <a:t>Fixed parameters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F8FC0C-C594-4E8F-AB44-A2746EE7E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05150"/>
            <a:ext cx="3143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84E0B"/>
                </a:solidFill>
              </a:defRPr>
            </a:pPr>
            <a:r>
              <a:rPr sz="1875" b="1">
                <a:solidFill>
                  <a:srgbClr val="C84E0B"/>
                </a:solidFill>
              </a:rPr>
              <a:t>warning distance = 0.45</a:t>
            </a:r>
          </a:p>
          <a:p xmlns:a="http://schemas.openxmlformats.org/drawingml/2006/main">
            <a:pPr algn="l">
              <a:defRPr sz="1875" b="1">
                <a:solidFill>
                  <a:srgbClr val="C84E0B"/>
                </a:solidFill>
              </a:defRPr>
            </a:pPr>
            <a:r>
              <a:rPr sz="1875" b="1">
                <a:solidFill>
                  <a:srgbClr val="C84E0B"/>
                </a:solidFill>
              </a:rPr>
              <a:t>safe distance = 0.55</a:t>
            </a:r>
          </a:p>
          <a:p xmlns:a="http://schemas.openxmlformats.org/drawingml/2006/main">
            <a:pPr algn="l">
              <a:defRPr sz="1875" b="1">
                <a:solidFill>
                  <a:srgbClr val="C84E0B"/>
                </a:solidFill>
              </a:defRPr>
            </a:pPr>
            <a:r>
              <a:rPr sz="1875" b="1">
                <a:solidFill>
                  <a:srgbClr val="C84E0B"/>
                </a:solidFill>
              </a:rPr>
              <a:t>deadline = 79 steps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E2D798-FBAD-4D5B-8DC6-9AD4AA24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619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66666"/>
                </a:solidFill>
              </a:defRPr>
            </a:pPr>
            <a:r>
              <a:rPr sz="1575" b="0">
                <a:solidFill>
                  <a:srgbClr val="666666"/>
                </a:solidFill>
              </a:rPr>
              <a:t>After the first d_t &lt; 0.45, the agent must achieve d_t &gt;= 0.55 within 79 steps.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5B08D2-FBF6-46AF-A128-78DD5A8F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717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82828"/>
                </a:solidFill>
              </a:defRPr>
            </a:pPr>
            <a:r>
              <a:rPr sz="1800" b="1">
                <a:solidFill>
                  <a:srgbClr val="282828"/>
                </a:solidFill>
              </a:rPr>
              <a:t>Two distances create a recovery buffer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3B6114-8D24-447F-8CBE-C6F8E004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28950"/>
            <a:ext cx="6191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9525">
            <a:solidFill>
              <a:srgbClr val="B53A2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DA2454-8E16-44E3-A44A-0E5EDAE92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81350"/>
            <a:ext cx="588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53A2D"/>
                </a:solidFill>
              </a:defRPr>
            </a:pPr>
            <a:r>
              <a:rPr sz="1575" b="1">
                <a:solidFill>
                  <a:srgbClr val="B53A2D"/>
                </a:solidFill>
              </a:rPr>
              <a:t>d_t &lt; 0.45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23C9C1-A7B4-43E5-A2DA-A8129A7C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448050"/>
            <a:ext cx="588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666"/>
                </a:solidFill>
              </a:defRPr>
            </a:pPr>
            <a:r>
              <a:rPr sz="1350" b="0">
                <a:solidFill>
                  <a:srgbClr val="666666"/>
                </a:solidFill>
              </a:rPr>
              <a:t>Warning begins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359C40-9776-4A9B-98E9-155ABF26B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00500"/>
            <a:ext cx="6191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7D8"/>
          </a:solidFill>
          <a:ln xmlns:a="http://schemas.openxmlformats.org/drawingml/2006/main" w="9525">
            <a:solidFill>
              <a:srgbClr val="A66A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2DA082-EC34-4C6F-ACCE-29BF4FC08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152900"/>
            <a:ext cx="588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66A00"/>
                </a:solidFill>
              </a:defRPr>
            </a:pPr>
            <a:r>
              <a:rPr sz="1575" b="1">
                <a:solidFill>
                  <a:srgbClr val="A66A00"/>
                </a:solidFill>
              </a:rPr>
              <a:t>0.45 &lt;= d_t &lt; 0.55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DEB09D-A766-42E1-9834-E38DE0AE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419600"/>
            <a:ext cx="588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666"/>
                </a:solidFill>
              </a:defRPr>
            </a:pPr>
            <a:r>
              <a:rPr sz="1350" b="0">
                <a:solidFill>
                  <a:srgbClr val="666666"/>
                </a:solidFill>
              </a:rPr>
              <a:t>Recovery is still pending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950F47-DF83-43C2-9DBC-AC377FFAE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972050"/>
            <a:ext cx="6191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2E7D4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2B351E-622F-4D1E-9271-6C9646E4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124450"/>
            <a:ext cx="588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E7D4F"/>
                </a:solidFill>
              </a:defRPr>
            </a:pPr>
            <a:r>
              <a:rPr sz="1575" b="1">
                <a:solidFill>
                  <a:srgbClr val="2E7D4F"/>
                </a:solidFill>
              </a:rPr>
              <a:t>d_t &gt;= 0.55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763B90-6EFB-40FC-817B-AA466BBA9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391150"/>
            <a:ext cx="588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666"/>
                </a:solidFill>
              </a:defRPr>
            </a:pPr>
            <a:r>
              <a:rPr sz="1350" b="0">
                <a:solidFill>
                  <a:srgbClr val="666666"/>
                </a:solidFill>
              </a:rPr>
              <a:t>Recovery is complete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2E3C99-1FA3-42B5-9E61-17F55FBC2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A9A9A"/>
                </a:solidFill>
              </a:defRPr>
            </a:pPr>
            <a:r>
              <a:rPr sz="975" b="0">
                <a:solidFill>
                  <a:srgbClr val="9A9A9A"/>
                </a:solidFill>
              </a:rPr>
              <a:t>Language-Grounded STL Safe RL | Stage I progress</a:t>
            </a:r>
          </a:p>
        </p:txBody>
      </p:sp>
    </p:spTree>
    <p:extLst>
      <p:ext uri="{BB962C8B-B14F-4D97-AF65-F5344CB8AC3E}">
        <p14:creationId xmlns:p14="http://schemas.microsoft.com/office/powerpoint/2010/main" val="11415380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itle-7">
            <a:extLst xmlns:a="http://schemas.openxmlformats.org/drawingml/2006/main">
              <a:ext uri="{FF2B5EF4-FFF2-40B4-BE49-F238E27FC236}">
                <a16:creationId xmlns:a16="http://schemas.microsoft.com/office/drawing/2014/main" id="{AE504003-608D-40A6-AFE9-C63C65A9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51515"/>
                </a:solidFill>
              </a:defRPr>
            </a:pPr>
            <a:r>
              <a:rPr sz="2775" b="1">
                <a:solidFill>
                  <a:srgbClr val="151515"/>
                </a:solidFill>
              </a:rPr>
              <a:t>The Monitor Turns Recovery into an RL Cost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E2847C-9D5E-4783-A4AA-C23F9273B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000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9A9A9A"/>
                </a:solidFill>
              </a:defRPr>
            </a:pPr>
            <a:r>
              <a:rPr sz="1350" b="0">
                <a:solidFill>
                  <a:srgbClr val="9A9A9A"/>
                </a:solidFill>
              </a:rPr>
              <a:t>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2F4670-74A9-4D4D-A9D5-0D181131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23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82828"/>
                </a:solidFill>
              </a:defRPr>
            </a:pPr>
            <a:r>
              <a:rPr sz="1725" b="1">
                <a:solidFill>
                  <a:srgbClr val="282828"/>
                </a:solidFill>
              </a:rPr>
              <a:t>The monitor reads d_t at every step and keeps one recovery state: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DB13F1-1964-48F2-A6B4-CBA21BA9A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90750"/>
            <a:ext cx="5524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0">
            <a:solidFill>
              <a:srgbClr val="F3702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E39AB9-0761-48E0-AC87-D7A71476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90750"/>
            <a:ext cx="5524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0">
            <a:solidFill>
              <a:srgbClr val="F3702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086278-11DF-4325-8965-E3C9D7E33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31242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9A9A9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7D09BB-BFAC-4B11-A670-5A8221E1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6690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51515"/>
                </a:solidFill>
              </a:defRPr>
            </a:pPr>
            <a:r>
              <a:rPr sz="1800" b="1">
                <a:solidFill>
                  <a:srgbClr val="151515"/>
                </a:solidFill>
              </a:rPr>
              <a:t>INACTIVE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B57273-4C8E-4E42-892F-DC30503A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2819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6666"/>
                </a:solidFill>
              </a:defRPr>
            </a:pPr>
            <a:r>
              <a:rPr sz="1500" b="0">
                <a:solidFill>
                  <a:srgbClr val="666666"/>
                </a:solidFill>
              </a:rPr>
              <a:t>No recovery obligation is open.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6E063D-0B4B-4601-BF00-D449715C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14500"/>
            <a:ext cx="35052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7D8"/>
          </a:solidFill>
          <a:ln xmlns:a="http://schemas.openxmlformats.org/drawingml/2006/main" w="9525">
            <a:solidFill>
              <a:srgbClr val="A66A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709453-A4B9-48AF-9962-22FCEDAB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86690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66A00"/>
                </a:solidFill>
              </a:defRPr>
            </a:pPr>
            <a:r>
              <a:rPr sz="1800" b="1">
                <a:solidFill>
                  <a:srgbClr val="A66A00"/>
                </a:solidFill>
              </a:rPr>
              <a:t>PENDING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979D47-B73E-49B0-AB7F-E0879B370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47900"/>
            <a:ext cx="320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6666"/>
                </a:solidFill>
              </a:defRPr>
            </a:pPr>
            <a:r>
              <a:rPr sz="1500" b="0">
                <a:solidFill>
                  <a:srgbClr val="666666"/>
                </a:solidFill>
              </a:rPr>
              <a:t>The warning zone was entered; the deadline is running.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9C9A76-6010-4C8B-9BA7-F3909ACAA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14500"/>
            <a:ext cx="31242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9525">
            <a:solidFill>
              <a:srgbClr val="B53A2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CFD2B3-2A8D-4D76-BFB7-5E7A6E6A9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86690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53A2D"/>
                </a:solidFill>
              </a:defRPr>
            </a:pPr>
            <a:r>
              <a:rPr sz="1800" b="1">
                <a:solidFill>
                  <a:srgbClr val="B53A2D"/>
                </a:solidFill>
              </a:rPr>
              <a:t>OVERDUE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D8A393-756E-494D-BE58-0BE79F29B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47900"/>
            <a:ext cx="2819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6666"/>
                </a:solidFill>
              </a:defRPr>
            </a:pPr>
            <a:r>
              <a:rPr sz="1500" b="0">
                <a:solidFill>
                  <a:srgbClr val="666666"/>
                </a:solidFill>
              </a:rPr>
              <a:t>The deadline passed before recovery.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BF8E31-936E-475A-B565-D2580176C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82828"/>
                </a:solidFill>
              </a:defRPr>
            </a:pPr>
            <a:r>
              <a:rPr sz="1725" b="1">
                <a:solidFill>
                  <a:srgbClr val="282828"/>
                </a:solidFill>
              </a:rPr>
              <a:t>The state becomes a cost only when the outcome is known: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3D0B8B-C299-40F4-ACA5-67E3F5D46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3333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2E7D4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4197C0-943B-4534-ADBF-E8B623F2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48150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E7D4F"/>
                </a:solidFill>
              </a:defRPr>
            </a:pPr>
            <a:r>
              <a:rPr sz="1575" b="1">
                <a:solidFill>
                  <a:srgbClr val="2E7D4F"/>
                </a:solidFill>
              </a:rPr>
              <a:t>Recovered within 79 steps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14A530-E4DF-44AD-BEF1-754ED8CD6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29150"/>
            <a:ext cx="3028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66666"/>
                </a:solidFill>
              </a:defRPr>
            </a:pPr>
            <a:r>
              <a:rPr sz="1575" b="0">
                <a:solidFill>
                  <a:srgbClr val="666666"/>
                </a:solidFill>
              </a:rPr>
              <a:t>STL cost = 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0CC02C-A739-498D-BC26-AE5010B7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095750"/>
            <a:ext cx="3333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9525">
            <a:solidFill>
              <a:srgbClr val="B53A2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05E6C8-B65E-4DFB-ACA6-1F8A7968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48150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53A2D"/>
                </a:solidFill>
              </a:defRPr>
            </a:pPr>
            <a:r>
              <a:rPr sz="1575" b="1">
                <a:solidFill>
                  <a:srgbClr val="B53A2D"/>
                </a:solidFill>
              </a:rPr>
              <a:t>Deadline missed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937B26-77BD-47D1-B3F0-9C37EF19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629150"/>
            <a:ext cx="3028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66666"/>
                </a:solidFill>
              </a:defRPr>
            </a:pPr>
            <a:r>
              <a:rPr sz="1575" b="0">
                <a:solidFill>
                  <a:srgbClr val="666666"/>
                </a:solidFill>
              </a:rPr>
              <a:t>STL cost = 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1C7C0C-73DE-4A39-8852-1BB3ADFD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95750"/>
            <a:ext cx="3333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6650A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34D1A4-D30F-4657-A39B-17B9DF38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48150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650A4"/>
                </a:solidFill>
              </a:defRPr>
            </a:pPr>
            <a:r>
              <a:rPr sz="1575" b="1">
                <a:solidFill>
                  <a:srgbClr val="6650A4"/>
                </a:solidFill>
              </a:rPr>
              <a:t>Episode ends while pending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57BC94-6357-4F2C-A33A-A0A9BFAF2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629150"/>
            <a:ext cx="3028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66666"/>
                </a:solidFill>
              </a:defRPr>
            </a:pPr>
            <a:r>
              <a:rPr sz="1425" b="0">
                <a:solidFill>
                  <a:srgbClr val="666666"/>
                </a:solidFill>
              </a:rPr>
              <a:t>terminal unresolved -&gt; cost = 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73748C-1B35-43C0-AF26-A325D5E0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676900"/>
            <a:ext cx="727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C84E0B"/>
                </a:solidFill>
              </a:defRPr>
            </a:pPr>
            <a:r>
              <a:rPr sz="1875" b="1">
                <a:solidFill>
                  <a:srgbClr val="C84E0B"/>
                </a:solidFill>
              </a:rPr>
              <a:t>This numerical cost is the signal that Safe RL can optimize.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2F7624-D3F2-4266-9171-957D71EAB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A9A9A"/>
                </a:solidFill>
              </a:defRPr>
            </a:pPr>
            <a:r>
              <a:rPr sz="975" b="0">
                <a:solidFill>
                  <a:srgbClr val="9A9A9A"/>
                </a:solidFill>
              </a:rPr>
              <a:t>Language-Grounded STL Safe RL | Stage I progress</a:t>
            </a:r>
          </a:p>
        </p:txBody>
      </p:sp>
    </p:spTree>
    <p:extLst>
      <p:ext uri="{BB962C8B-B14F-4D97-AF65-F5344CB8AC3E}">
        <p14:creationId xmlns:p14="http://schemas.microsoft.com/office/powerpoint/2010/main" val="5614611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8">
            <a:extLst xmlns:a="http://schemas.openxmlformats.org/drawingml/2006/main">
              <a:ext uri="{FF2B5EF4-FFF2-40B4-BE49-F238E27FC236}">
                <a16:creationId xmlns:a16="http://schemas.microsoft.com/office/drawing/2014/main" id="{7346C6B9-7FA7-426C-B79B-D6A347E1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51515"/>
                </a:solidFill>
              </a:defRPr>
            </a:pPr>
            <a:r>
              <a:rPr sz="2775" b="1">
                <a:solidFill>
                  <a:srgbClr val="151515"/>
                </a:solidFill>
              </a:rPr>
              <a:t>Rule and Monitor Checks Are Complete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8F8257-CA4F-4B8E-8B9D-2162EF82C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000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9A9A9A"/>
                </a:solidFill>
              </a:defRPr>
            </a:pPr>
            <a:r>
              <a:rPr sz="1350" b="0">
                <a:solidFill>
                  <a:srgbClr val="9A9A9A"/>
                </a:solidFill>
              </a:rPr>
              <a:t>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DD843C-F1F6-4F43-82E8-AE688055E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0490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2E7D4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AF303A-67D3-4889-A6BE-F0AF57D3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5252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E7D4F"/>
                </a:solidFill>
              </a:defRPr>
            </a:pPr>
            <a:r>
              <a:rPr sz="1050" b="1">
                <a:solidFill>
                  <a:srgbClr val="2E7D4F"/>
                </a:solidFill>
              </a:rPr>
              <a:t>COMPLETED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7C45B1-FB8D-44F9-9783-0E6204FC7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811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82828"/>
                </a:solidFill>
              </a:defRPr>
            </a:pPr>
            <a:r>
              <a:rPr sz="1800" b="1">
                <a:solidFill>
                  <a:srgbClr val="282828"/>
                </a:solidFill>
              </a:rPr>
              <a:t>Three independent checks agree on the declared cases: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4826B5-7C08-4C2F-8012-1B7EA970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57400"/>
            <a:ext cx="3333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2E7D4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43C914-0D9F-461D-AE19-24A0594B9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9800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E7D4F"/>
                </a:solidFill>
              </a:defRPr>
            </a:pPr>
            <a:r>
              <a:rPr sz="1725" b="1">
                <a:solidFill>
                  <a:srgbClr val="2E7D4F"/>
                </a:solidFill>
              </a:rPr>
              <a:t>Online monitor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4B1A41-3F4B-47BA-9DBF-1B90C4BE2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90800"/>
            <a:ext cx="3028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6666"/>
                </a:solidFill>
              </a:defRPr>
            </a:pPr>
            <a:r>
              <a:rPr sz="1425" b="0">
                <a:solidFill>
                  <a:srgbClr val="666666"/>
                </a:solidFill>
              </a:rPr>
              <a:t>Runs causally during the episode.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7042F0-FAB8-4653-BFF5-B571E1D2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57400"/>
            <a:ext cx="3333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2F6FA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61A576-5134-4711-B122-602C0C80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209800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6FAE"/>
                </a:solidFill>
              </a:defRPr>
            </a:pPr>
            <a:r>
              <a:rPr sz="1725" b="1">
                <a:solidFill>
                  <a:srgbClr val="2F6FAE"/>
                </a:solidFill>
              </a:rPr>
              <a:t>Direct offline oracle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E666B4-1328-4F4A-8E8F-9E981AD43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590800"/>
            <a:ext cx="3028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6666"/>
                </a:solidFill>
              </a:defRPr>
            </a:pPr>
            <a:r>
              <a:rPr sz="1425" b="0">
                <a:solidFill>
                  <a:srgbClr val="666666"/>
                </a:solidFill>
              </a:rPr>
              <a:t>Re-evaluates the saved trajectory independently.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238FC1-1717-4B18-9D52-49B6CA08C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57400"/>
            <a:ext cx="3333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6650A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9F542F-5BC8-4A97-AC5A-28E9A65F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09800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650A4"/>
                </a:solidFill>
              </a:defRPr>
            </a:pPr>
            <a:r>
              <a:rPr sz="1725" b="1">
                <a:solidFill>
                  <a:srgbClr val="6650A4"/>
                </a:solidFill>
              </a:rPr>
              <a:t>RTAMT reference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4841E5-83D1-417E-BC45-EF22360B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90800"/>
            <a:ext cx="3028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6666"/>
                </a:solidFill>
              </a:defRPr>
            </a:pPr>
            <a:r>
              <a:rPr sz="1425" b="0">
                <a:solidFill>
                  <a:srgbClr val="666666"/>
                </a:solidFill>
              </a:rPr>
              <a:t>Provides an external STL semantics check.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C6FAA2-0AB3-4795-A599-9C17D2934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47625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5E5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D36568-7DD7-4398-8FC1-12EDA8BD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433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84E0B"/>
                </a:solidFill>
              </a:defRPr>
            </a:pPr>
            <a:r>
              <a:rPr sz="1800" b="1">
                <a:solidFill>
                  <a:srgbClr val="C84E0B"/>
                </a:solidFill>
              </a:rPr>
              <a:t>Why K = 79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A1E542-F3A1-4F1C-A292-B29AECD80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00550"/>
            <a:ext cx="3714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1515"/>
                </a:solidFill>
              </a:defRPr>
            </a:pPr>
            <a:r>
              <a:rPr sz="1725" b="1">
                <a:solidFill>
                  <a:srgbClr val="151515"/>
                </a:solidFill>
              </a:rPr>
              <a:t>95th percentile = 63 steps</a:t>
            </a:r>
          </a:p>
          <a:p xmlns:a="http://schemas.openxmlformats.org/drawingml/2006/main">
            <a:pPr algn="l">
              <a:defRPr sz="1725" b="1">
                <a:solidFill>
                  <a:srgbClr val="151515"/>
                </a:solidFill>
              </a:defRPr>
            </a:pPr>
            <a:r>
              <a:rPr sz="1725" b="1">
                <a:solidFill>
                  <a:srgbClr val="151515"/>
                </a:solidFill>
              </a:rPr>
              <a:t>63 x 1.25 = 78.75</a:t>
            </a:r>
          </a:p>
          <a:p xmlns:a="http://schemas.openxmlformats.org/drawingml/2006/main">
            <a:pPr algn="l">
              <a:defRPr sz="1725" b="1">
                <a:solidFill>
                  <a:srgbClr val="151515"/>
                </a:solidFill>
              </a:defRPr>
            </a:pPr>
            <a:r>
              <a:rPr sz="1725" b="1">
                <a:solidFill>
                  <a:srgbClr val="151515"/>
                </a:solidFill>
              </a:rPr>
              <a:t>ceil(78.75) = 79 steps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012AF4-6B7E-447A-BACD-969FC2E0A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95700"/>
            <a:ext cx="57150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14288">
            <a:solidFill>
              <a:srgbClr val="F3702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8DC6AC-6703-494A-8A48-7EA549BC7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433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84E0B"/>
                </a:solidFill>
              </a:defRPr>
            </a:pPr>
            <a:r>
              <a:rPr sz="1800" b="1">
                <a:solidFill>
                  <a:srgbClr val="C84E0B"/>
                </a:solidFill>
              </a:rPr>
              <a:t>What the completed work proves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2D25C0-B46B-41C3-BA7F-6D88A5948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00550"/>
            <a:ext cx="4857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515"/>
                </a:solidFill>
              </a:defRPr>
            </a:pPr>
            <a:r>
              <a:rPr sz="1500" b="0">
                <a:solidFill>
                  <a:srgbClr val="151515"/>
                </a:solidFill>
              </a:rPr>
              <a:t>- 79 steps is evidence-based and generally achievable here.</a:t>
            </a:r>
          </a:p>
          <a:p xmlns:a="http://schemas.openxmlformats.org/drawingml/2006/main">
            <a:pPr algn="l">
              <a:defRPr sz="1500" b="0">
                <a:solidFill>
                  <a:srgbClr val="151515"/>
                </a:solidFill>
              </a:defRPr>
            </a:pPr>
            <a:r>
              <a:rPr sz="1500" b="0">
                <a:solidFill>
                  <a:srgbClr val="151515"/>
                </a:solidFill>
              </a:rPr>
              <a:t>- Environment, distance signal, monitor, cost, visualization, and logs run together.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243A17-94E2-46FC-AFFE-B95B19266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581650"/>
            <a:ext cx="7543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B53A2D"/>
                </a:solidFill>
              </a:defRPr>
            </a:pPr>
            <a:r>
              <a:rPr sz="1725" b="1">
                <a:solidFill>
                  <a:srgbClr val="B53A2D"/>
                </a:solidFill>
              </a:rPr>
              <a:t>It does not yet prove that a trained Safe RL policy will reduce violations.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C5EB7C-5E29-4C99-A2F6-1B532D5F3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A9A9A"/>
                </a:solidFill>
              </a:defRPr>
            </a:pPr>
            <a:r>
              <a:rPr sz="975" b="0">
                <a:solidFill>
                  <a:srgbClr val="9A9A9A"/>
                </a:solidFill>
              </a:rPr>
              <a:t>Language-Grounded STL Safe RL | Stage I progress</a:t>
            </a:r>
          </a:p>
        </p:txBody>
      </p:sp>
    </p:spTree>
    <p:extLst>
      <p:ext uri="{BB962C8B-B14F-4D97-AF65-F5344CB8AC3E}">
        <p14:creationId xmlns:p14="http://schemas.microsoft.com/office/powerpoint/2010/main" val="15182137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itle-9">
            <a:extLst xmlns:a="http://schemas.openxmlformats.org/drawingml/2006/main">
              <a:ext uri="{FF2B5EF4-FFF2-40B4-BE49-F238E27FC236}">
                <a16:creationId xmlns:a16="http://schemas.microsoft.com/office/drawing/2014/main" id="{7CA815D3-E47F-449B-B3D6-46461100F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51515"/>
                </a:solidFill>
              </a:defRPr>
            </a:pPr>
            <a:r>
              <a:rPr sz="2775" b="1">
                <a:solidFill>
                  <a:srgbClr val="151515"/>
                </a:solidFill>
              </a:rPr>
              <a:t>Next: Build the OmniSafe Wrapper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93619C-E8E0-4DD5-BB97-2B6B26D75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000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9A9A9A"/>
                </a:solidFill>
              </a:defRPr>
            </a:pPr>
            <a:r>
              <a:rPr sz="1350" b="0">
                <a:solidFill>
                  <a:srgbClr val="9A9A9A"/>
                </a:solidFill>
              </a:rPr>
              <a:t>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E029B5-08AB-4B6F-9F6C-665A31717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04900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84E0B"/>
                </a:solidFill>
              </a:defRPr>
            </a:pPr>
            <a:r>
              <a:rPr sz="1875" b="1">
                <a:solidFill>
                  <a:srgbClr val="C84E0B"/>
                </a:solidFill>
              </a:rPr>
              <a:t>The wrapper connects the tested STL cost to Safe RL without changing the benchmark task.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315E09-372E-4FB9-ABB1-A660C4F80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724150"/>
            <a:ext cx="6096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0">
            <a:solidFill>
              <a:srgbClr val="F3702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B1ED5B-0A37-4D05-9F49-406042BA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724150"/>
            <a:ext cx="6096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0">
            <a:solidFill>
              <a:srgbClr val="F3702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59FCC3-C1C4-42C7-A77A-326B395B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33147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2F6FA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54E44A-AF4D-4A64-83B9-DDA5C874C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6FAE"/>
                </a:solidFill>
              </a:defRPr>
            </a:pPr>
            <a:r>
              <a:rPr sz="1800" b="1">
                <a:solidFill>
                  <a:srgbClr val="2F6FAE"/>
                </a:solidFill>
              </a:rPr>
              <a:t>Environment 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955DA5-1A3F-4655-BF11-06CD87305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30099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666"/>
                </a:solidFill>
              </a:defRPr>
            </a:pPr>
            <a:r>
              <a:rPr sz="1500" b="0">
                <a:solidFill>
                  <a:srgbClr val="666666"/>
                </a:solidFill>
              </a:rPr>
              <a:t>Keep the task reward, native hazard cost, distance signal, and monitor state separate.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393B60-F78D-4E30-8C4B-6956E0B1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924050"/>
            <a:ext cx="30099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28575">
            <a:solidFill>
              <a:srgbClr val="F3702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B5DC87-701D-423A-B765-9C18B593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076450"/>
            <a:ext cx="2705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84E0B"/>
                </a:solidFill>
              </a:defRPr>
            </a:pPr>
            <a:r>
              <a:rPr sz="1800" b="1">
                <a:solidFill>
                  <a:srgbClr val="C84E0B"/>
                </a:solidFill>
              </a:rPr>
              <a:t>OmniSafe wrapper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8786D6-FB37-4619-A3B6-AF145CC51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57450"/>
            <a:ext cx="27051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666"/>
                </a:solidFill>
              </a:defRPr>
            </a:pPr>
            <a:r>
              <a:rPr sz="1500" b="0">
                <a:solidFill>
                  <a:srgbClr val="666666"/>
                </a:solidFill>
              </a:rPr>
              <a:t>Expose the selected safety cost in the format expected by the Safe RL algorithm.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461C65-2911-4FAF-8FD7-8E93D147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24050"/>
            <a:ext cx="33147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2E7D4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0109DA-64C6-417D-B16C-8EFE0F9C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76450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E7D4F"/>
                </a:solidFill>
              </a:defRPr>
            </a:pPr>
            <a:r>
              <a:rPr sz="1800" b="1">
                <a:solidFill>
                  <a:srgbClr val="2E7D4F"/>
                </a:solidFill>
              </a:rPr>
              <a:t>First integration 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25B79B-88C0-4E55-995D-4624A099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57450"/>
            <a:ext cx="30099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666"/>
                </a:solidFill>
              </a:defRPr>
            </a:pPr>
            <a:r>
              <a:rPr sz="1500" b="0">
                <a:solidFill>
                  <a:srgbClr val="666666"/>
                </a:solidFill>
              </a:rPr>
              <a:t>Run a short update and verify that OmniSafe receives the intended STL cost.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D0AA20-7CF1-49E9-B318-4AEE4667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481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82828"/>
                </a:solidFill>
              </a:defRPr>
            </a:pPr>
            <a:r>
              <a:rPr sz="1800" b="1">
                <a:solidFill>
                  <a:srgbClr val="282828"/>
                </a:solidFill>
              </a:rPr>
              <a:t>After the wrapper passes, train three matched agents: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7EDD98-727C-413B-BFFF-13500A9F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19650"/>
            <a:ext cx="2857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66666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574580-204E-4264-B508-2855DD9B8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67275"/>
            <a:ext cx="2705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6666"/>
                </a:solidFill>
              </a:defRPr>
            </a:pPr>
            <a:r>
              <a:rPr sz="1050" b="1">
                <a:solidFill>
                  <a:srgbClr val="666666"/>
                </a:solidFill>
              </a:rPr>
              <a:t>TASK ONLY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93E2E5-2A38-494F-92B9-86EC69D39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819650"/>
            <a:ext cx="2857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2F6FA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B8F9E3-0731-46D7-B473-570D8FA2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67275"/>
            <a:ext cx="2705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F6FAE"/>
                </a:solidFill>
              </a:defRPr>
            </a:pPr>
            <a:r>
              <a:rPr sz="1050" b="1">
                <a:solidFill>
                  <a:srgbClr val="2F6FAE"/>
                </a:solidFill>
              </a:rPr>
              <a:t>NATIVE HAZARD COST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7CE81A-EE32-474F-8516-8E502CF0A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819650"/>
            <a:ext cx="2857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9525">
            <a:solidFill>
              <a:srgbClr val="C84E0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D7592F-4106-4311-A377-B8E8E35C2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867275"/>
            <a:ext cx="2705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84E0B"/>
                </a:solidFill>
              </a:defRPr>
            </a:pPr>
            <a:r>
              <a:rPr sz="1050" b="1">
                <a:solidFill>
                  <a:srgbClr val="C84E0B"/>
                </a:solidFill>
              </a:rPr>
              <a:t>STL COST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5627A9-533B-43D7-B81C-514C00E2E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562600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51515"/>
                </a:solidFill>
              </a:defRPr>
            </a:pPr>
            <a:r>
              <a:rPr sz="1875" b="1">
                <a:solidFill>
                  <a:srgbClr val="151515"/>
                </a:solidFill>
              </a:rPr>
              <a:t>Compare goal-reaching performance and temporal safety violations.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943450-4192-4F39-AE80-F81CCBB81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A9A9A"/>
                </a:solidFill>
              </a:defRPr>
            </a:pPr>
            <a:r>
              <a:rPr sz="975" b="0">
                <a:solidFill>
                  <a:srgbClr val="9A9A9A"/>
                </a:solidFill>
              </a:rPr>
              <a:t>Language-Grounded STL Safe RL | Current next step: OmniSafe wrapper</a:t>
            </a:r>
          </a:p>
        </p:txBody>
      </p:sp>
    </p:spTree>
    <p:extLst>
      <p:ext uri="{BB962C8B-B14F-4D97-AF65-F5344CB8AC3E}">
        <p14:creationId xmlns:p14="http://schemas.microsoft.com/office/powerpoint/2010/main" val="4086780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2026-08-06T17:28:55.2820000Z</dcterms:created>
  <dcterms:modified xsi:type="dcterms:W3CDTF">2026-08-06T17:28:55.2820000Z</dcterms:modified>
</coreProperties>
</file>