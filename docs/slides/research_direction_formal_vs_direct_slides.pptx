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f9020f3c65466b" /><Relationship Type="http://schemas.openxmlformats.org/officeDocument/2006/relationships/extended-properties" Target="/docProps/app.xml" Id="R22b4bc72450d47d2" /><Relationship Type="http://schemas.openxmlformats.org/officeDocument/2006/relationships/officeDocument" Target="/ppt/presentation.xml" Id="R94d0a84bc04a40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49153d8537465b"/>
  </p:sldMasterIdLst>
  <p:notesMasterIdLst>
    <p:notesMasterId xmlns:r="http://schemas.openxmlformats.org/officeDocument/2006/relationships" r:id="R0c2d42c9c3d24201"/>
  </p:notesMasterIdLst>
  <p:sldIdLst>
    <p:sldId xmlns:r="http://schemas.openxmlformats.org/officeDocument/2006/relationships" id="256" r:id="R0df4399e465b4b8b"/>
    <p:sldId xmlns:r="http://schemas.openxmlformats.org/officeDocument/2006/relationships" id="257" r:id="Ra2444643c2d64a9e"/>
    <p:sldId xmlns:r="http://schemas.openxmlformats.org/officeDocument/2006/relationships" id="258" r:id="R2b9dad349a594ef9"/>
    <p:sldId xmlns:r="http://schemas.openxmlformats.org/officeDocument/2006/relationships" id="259" r:id="R3290e796037e4240"/>
    <p:sldId xmlns:r="http://schemas.openxmlformats.org/officeDocument/2006/relationships" id="260" r:id="R2866b302d3f9471b"/>
    <p:sldId xmlns:r="http://schemas.openxmlformats.org/officeDocument/2006/relationships" id="261" r:id="Rd9dfddbcb4914d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51eb915d304ae4" /><Relationship Type="http://schemas.openxmlformats.org/officeDocument/2006/relationships/slideMaster" Target="/ppt/slideMasters/slideMaster1.xml" Id="R3049153d8537465b" /><Relationship Type="http://schemas.openxmlformats.org/officeDocument/2006/relationships/notesMaster" Target="/ppt/notesMasters/notesMaster1.xml" Id="R0c2d42c9c3d24201" /><Relationship Type="http://schemas.openxmlformats.org/officeDocument/2006/relationships/presProps" Target="/ppt/presProps.xml" Id="Rd2f4d44cafc440fa" /><Relationship Type="http://schemas.openxmlformats.org/officeDocument/2006/relationships/tableStyles" Target="/ppt/tableStyles.xml" Id="Racb29874639d46f5" /><Relationship Type="http://schemas.openxmlformats.org/officeDocument/2006/relationships/slide" Target="/ppt/slides/slide1.xml" Id="R0df4399e465b4b8b" /><Relationship Type="http://schemas.openxmlformats.org/officeDocument/2006/relationships/slide" Target="/ppt/slides/slide2.xml" Id="Ra2444643c2d64a9e" /><Relationship Type="http://schemas.openxmlformats.org/officeDocument/2006/relationships/slide" Target="/ppt/slides/slide3.xml" Id="R2b9dad349a594ef9" /><Relationship Type="http://schemas.openxmlformats.org/officeDocument/2006/relationships/slide" Target="/ppt/slides/slide4.xml" Id="R3290e796037e4240" /><Relationship Type="http://schemas.openxmlformats.org/officeDocument/2006/relationships/slide" Target="/ppt/slides/slide5.xml" Id="R2866b302d3f9471b" /><Relationship Type="http://schemas.openxmlformats.org/officeDocument/2006/relationships/slide" Target="/ppt/slides/slide6.xml" Id="Rd9dfddbcb4914d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f7043eda8141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196375d5844a30" /><Relationship Type="http://schemas.openxmlformats.org/officeDocument/2006/relationships/notesMaster" Target="/ppt/notesMasters/notesMaster1.xml" Id="Rf722901d315b46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11e9f88ad34187" /><Relationship Type="http://schemas.openxmlformats.org/officeDocument/2006/relationships/notesMaster" Target="/ppt/notesMasters/notesMaster1.xml" Id="R611757be94834f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734ee4e93d473e" /><Relationship Type="http://schemas.openxmlformats.org/officeDocument/2006/relationships/notesMaster" Target="/ppt/notesMasters/notesMaster1.xml" Id="Rcca2bb7307464d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9f81f4d70b4730" /><Relationship Type="http://schemas.openxmlformats.org/officeDocument/2006/relationships/notesMaster" Target="/ppt/notesMasters/notesMaster1.xml" Id="R9e8b53b0ca704c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53a1981e00486e" /><Relationship Type="http://schemas.openxmlformats.org/officeDocument/2006/relationships/notesMaster" Target="/ppt/notesMasters/notesMaster1.xml" Id="R8c174d3a920c4e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2aa1a355504048" /><Relationship Type="http://schemas.openxmlformats.org/officeDocument/2006/relationships/notesMaster" Target="/ppt/notesMasters/notesMaster1.xml" Id="R26baadadba1047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/Users/yuhang/Downloads/STL/docs/END_TO_END_RESEARCH_PIPELINE.md</a:t>
            </a:r>
          </a:p>
          <a:p xmlns:a="http://schemas.openxmlformats.org/drawingml/2006/main">
            <a:r>
              <a:t>- /Users/yuhang/Downloads/STL/PROJECT_CONTEXT.md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https://arxiv.org/abs/2201.08504</a:t>
            </a:r>
          </a:p>
          <a:p xmlns:a="http://schemas.openxmlformats.org/drawingml/2006/main">
            <a:r>
              <a:t>- https://arxiv.org/abs/2603.01292</a:t>
            </a:r>
          </a:p>
          <a:p xmlns:a="http://schemas.openxmlformats.org/drawingml/2006/main">
            <a:r>
              <a:t>- https://openreview.net/pdf?id=MIcZ9q09Q4</a:t>
            </a:r>
          </a:p>
          <a:p xmlns:a="http://schemas.openxmlformats.org/drawingml/2006/main">
            <a:r>
              <a:t>- https://ceur-ws.org/Vol-4142/paper18.pdf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https://arxiv.org/abs/2401.07553</a:t>
            </a:r>
          </a:p>
          <a:p xmlns:a="http://schemas.openxmlformats.org/drawingml/2006/main">
            <a:r>
              <a:t>- /Users/yuhang/Downloads/STL/docs/END_TO_END_RESEARCH_PIPELINE.md</a:t>
            </a:r>
          </a:p>
          <a:p xmlns:a="http://schemas.openxmlformats.org/drawingml/2006/main">
            <a:r>
              <a:t>- /Users/yuhang/Downloads/STL/docs/theory_and_revised_experiment_8.10.md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/Users/yuhang/Downloads/STL/docs/minimum_research_delivery_8.10.md</a:t>
            </a:r>
          </a:p>
          <a:p xmlns:a="http://schemas.openxmlformats.org/drawingml/2006/main">
            <a:r>
              <a:t>- /Users/yuhang/Downloads/STL/docs/theory_and_revised_experiment_8.10.md</a:t>
            </a:r>
          </a:p>
          <a:p xmlns:a="http://schemas.openxmlformats.org/drawingml/2006/main">
            <a:r>
              <a:t>- /Users/yuhang/Downloads/STL/docs/END_TO_END_RESEARCH_PIPELINE.md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/Users/yuhang/Downloads/STL/docs/stage2_o7_benchmark_design_proposal.md</a:t>
            </a:r>
          </a:p>
          <a:p xmlns:a="http://schemas.openxmlformats.org/drawingml/2006/main">
            <a:r>
              <a:t>- /Users/yuhang/Downloads/STL/docs/END_TO_END_RESEARCH_PIPELINE.md</a:t>
            </a:r>
          </a:p>
          <a:p xmlns:a="http://schemas.openxmlformats.org/drawingml/2006/main">
            <a:r>
              <a:t>- /Users/yuhang/Downloads/STL/docs/minimum_research_delivery_8.10.md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/Users/yuhang/Downloads/STL/docs/stage1_pilot_result_report.md</a:t>
            </a:r>
          </a:p>
          <a:p xmlns:a="http://schemas.openxmlformats.org/drawingml/2006/main">
            <a:r>
              <a:t>- /Users/yuhang/Downloads/STL/docs/stage1_code_failure_analysis_and_repair_recommendations.md</a:t>
            </a:r>
          </a:p>
          <a:p xmlns:a="http://schemas.openxmlformats.org/drawingml/2006/main">
            <a:r>
              <a:t>- /Users/yuhang/Downloads/STL/results/stage1_pilot/analysis/analysis.json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b77e6ae8d643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416bee151843f4" /><Relationship Type="http://schemas.openxmlformats.org/officeDocument/2006/relationships/slideLayout" Target="/ppt/slideLayouts/slideLayout1.xml" Id="Rf9f72c831e9745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f72c831e9745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9ed48396a4d24" /><Relationship Type="http://schemas.openxmlformats.org/officeDocument/2006/relationships/notesSlide" Target="/ppt/notesSlides/notesSlide1.xml" Id="Rc13b437634a048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e7a8c85d5419f" /><Relationship Type="http://schemas.openxmlformats.org/officeDocument/2006/relationships/notesSlide" Target="/ppt/notesSlides/notesSlide2.xml" Id="Re08641233e8740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eec8a5a484ad7" /><Relationship Type="http://schemas.openxmlformats.org/officeDocument/2006/relationships/notesSlide" Target="/ppt/notesSlides/notesSlide3.xml" Id="R1ae6ad760b9d43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c6331694d4459" /><Relationship Type="http://schemas.openxmlformats.org/officeDocument/2006/relationships/notesSlide" Target="/ppt/notesSlides/notesSlide4.xml" Id="R0bf63d94581843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f2bf069954a1f" /><Relationship Type="http://schemas.openxmlformats.org/officeDocument/2006/relationships/notesSlide" Target="/ppt/notesSlides/notesSlide5.xml" Id="R4f1a68e29c3043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704d04c0d4822" /><Relationship Type="http://schemas.openxmlformats.org/officeDocument/2006/relationships/notesSlide" Target="/ppt/notesSlides/notesSlide6.xml" Id="Rcd7f3f5ba74a46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1">
            <a:extLst xmlns:a="http://schemas.openxmlformats.org/drawingml/2006/main">
              <a:ext uri="{FF2B5EF4-FFF2-40B4-BE49-F238E27FC236}">
                <a16:creationId xmlns:a16="http://schemas.microsoft.com/office/drawing/2014/main" id="{5700EDED-6A8C-4438-8988-9234C39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51515"/>
                </a:solidFill>
              </a:defRPr>
            </a:pPr>
            <a:r>
              <a:rPr sz="2775" b="1">
                <a:solidFill>
                  <a:srgbClr val="151515"/>
                </a:solidFill>
              </a:rPr>
              <a:t>Original Goal: Natural Language to Safe 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71A1F-E996-4F4D-9591-9B4C7E73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9A9A9A"/>
                </a:solidFill>
              </a:defRPr>
            </a:pPr>
            <a:r>
              <a:rPr sz="1350" b="0">
                <a:solidFill>
                  <a:srgbClr val="9A9A9A"/>
                </a:solidFill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7C876-56FD-4D51-8561-41A87913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23950"/>
            <a:ext cx="9982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9050">
            <a:solidFill>
              <a:srgbClr val="F3702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825AF-380B-444B-A7C2-103F22D0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390650"/>
            <a:ext cx="922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51515"/>
                </a:solidFill>
              </a:defRPr>
            </a:pPr>
            <a:r>
              <a:rPr sz="2025" b="1">
                <a:solidFill>
                  <a:srgbClr val="151515"/>
                </a:solidFill>
              </a:rPr>
              <a:t>"Reach the goal. If you get too close to an obstacle, return to a safe distance within the allowed time."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1E900-24EF-4750-B134-ECCC1390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43250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6F69D-3DBC-400D-A3E3-A9C39641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43250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7148E-AE9B-4C79-BC5D-40B8459B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43250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FEE71-EEA1-4D65-AC2E-588594B6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43250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6899B-A559-46AA-A565-9C133B7D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7716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4288">
            <a:solidFill>
              <a:srgbClr val="B53A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6FFB5-9C71-4E9B-8979-685DE8BB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Natural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language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2110B-37E6-4319-8BB3-37A11E24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17716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8"/>
          </a:solidFill>
          <a:ln xmlns:a="http://schemas.openxmlformats.org/drawingml/2006/main" w="14288">
            <a:solidFill>
              <a:srgbClr val="A66A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93C34-1DE9-4DC0-B04C-936F8F58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0990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Translate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to STL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1122B-57D7-4391-B4FE-2A513A92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47950"/>
            <a:ext cx="17716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4288">
            <a:solidFill>
              <a:srgbClr val="2F6FA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98B6F-408B-470C-9D02-E21095DB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0990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STL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monitor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EEB66-E1E9-420F-BCCB-61BD2A82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47950"/>
            <a:ext cx="17716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14288">
            <a:solidFill>
              <a:srgbClr val="6650A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11367-838F-4CC4-8416-6C0B6A74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0990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Violation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cost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BA2827-04DC-4D09-9B8B-1E5CD999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47950"/>
            <a:ext cx="17716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4288">
            <a:solidFill>
              <a:srgbClr val="2E7D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71C85F-2B37-4950-81AE-490A6A6B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990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Train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Safe RL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6C2B40-21D4-46B3-8E4D-5A7625B3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9258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C52ECE-B2F9-4790-BE84-391092D5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10125"/>
            <a:ext cx="853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84E0B"/>
                </a:solidFill>
              </a:defRPr>
            </a:pPr>
            <a:r>
              <a:rPr sz="1800" b="1">
                <a:solidFill>
                  <a:srgbClr val="C84E0B"/>
                </a:solidFill>
              </a:rPr>
              <a:t>Outcome: reach the goal while reducing temporal safety violations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2FEAD-A6E0-408B-8647-DB30A9E0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9A9A"/>
                </a:solidFill>
              </a:defRPr>
            </a:pPr>
            <a:r>
              <a:rPr sz="975" b="0">
                <a:solidFill>
                  <a:srgbClr val="9A9A9A"/>
                </a:solidFill>
              </a:rPr>
              <a:t>Research direction update</a:t>
            </a:r>
          </a:p>
        </p:txBody>
      </p:sp>
    </p:spTree>
    <p:extLst>
      <p:ext uri="{BB962C8B-B14F-4D97-AF65-F5344CB8AC3E}">
        <p14:creationId xmlns:p14="http://schemas.microsoft.com/office/powerpoint/2010/main" val="2582205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8">
            <a:extLst xmlns:a="http://schemas.openxmlformats.org/drawingml/2006/main">
              <a:ext uri="{FF2B5EF4-FFF2-40B4-BE49-F238E27FC236}">
                <a16:creationId xmlns:a16="http://schemas.microsoft.com/office/drawing/2014/main" id="{7346C6B9-7FA7-426C-B79B-D6A347E1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51515"/>
                </a:solidFill>
              </a:defRPr>
            </a:pPr>
            <a:r>
              <a:rPr sz="2775" b="1">
                <a:solidFill>
                  <a:srgbClr val="151515"/>
                </a:solidFill>
              </a:rPr>
              <a:t>Existing Work Changes the Contribution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F8257-CA4F-4B8E-8B9D-2162EF82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9A9A9A"/>
                </a:solidFill>
              </a:defRPr>
            </a:pPr>
            <a:r>
              <a:rPr sz="1350" b="0">
                <a:solidFill>
                  <a:srgbClr val="9A9A9A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C45B1-FB8D-44F9-9783-0E6204FC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82828"/>
                </a:solidFill>
              </a:defRPr>
            </a:pPr>
            <a:r>
              <a:rPr sz="1800" b="1">
                <a:solidFill>
                  <a:srgbClr val="282828"/>
                </a:solidFill>
              </a:rPr>
              <a:t>Temporal-logic cost integration is already established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826B5-7C08-4C2F-8012-1B7EA970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2E7D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3C914-0D9F-461D-AE19-24A0594B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E7D4F"/>
                </a:solidFill>
              </a:defRPr>
            </a:pPr>
            <a:r>
              <a:rPr sz="1725" b="1">
                <a:solidFill>
                  <a:srgbClr val="2E7D4F"/>
                </a:solidFill>
              </a:rPr>
              <a:t>STL + Lagrangian DRL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B1A41-3F4B-47BA-9DBF-1B90C4BE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Ikemoto &amp; Ushio (2022)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STL constraints → Lagrangian DRL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042F0-FAB8-4653-BFF5-B571E1D2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F6F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1A576-5134-4711-B122-602C0C80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098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6FAE"/>
                </a:solidFill>
              </a:defRPr>
            </a:pPr>
            <a:r>
              <a:rPr sz="1725" b="1">
                <a:solidFill>
                  <a:srgbClr val="2F6FAE"/>
                </a:solidFill>
              </a:rPr>
              <a:t>PPO-LTL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666B4-1328-4F4A-8E8F-9E981AD4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9080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Zhang et al. (2026)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logic monitor → cost → PPO-Lag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38FC1-1717-4B18-9D52-49B6CA08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6650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F542F-5BC8-4A97-AC5A-28E9A65F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98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650A4"/>
                </a:solidFill>
              </a:defRPr>
            </a:pPr>
            <a:r>
              <a:rPr sz="1725" b="1">
                <a:solidFill>
                  <a:srgbClr val="6650A4"/>
                </a:solidFill>
              </a:rPr>
              <a:t>Full-STL CRL + RLRom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4841E5-83D1-417E-BC45-EF22360B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9080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Full STL constraints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monitor state + RL integration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6FAA2-0AB3-4795-A599-9C17D293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47625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36568-7DD7-4398-8FC1-12EDA8BD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84E0B"/>
                </a:solidFill>
              </a:defRPr>
            </a:pPr>
            <a:r>
              <a:rPr sz="1800" b="1">
                <a:solidFill>
                  <a:srgbClr val="C84E0B"/>
                </a:solidFill>
              </a:rPr>
              <a:t>Established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A1E542-F3A1-4F1C-A292-B29AECD8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temporal logic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→ monitor cost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→ Safe RL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12AF4-6B7E-447A-BACD-969FC2E0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95700"/>
            <a:ext cx="57150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4288">
            <a:solidFill>
              <a:srgbClr val="F370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8DC6AC-6703-494A-8A48-7EA549BC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43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84E0B"/>
                </a:solidFill>
              </a:defRPr>
            </a:pPr>
            <a:r>
              <a:rPr sz="1800" b="1">
                <a:solidFill>
                  <a:srgbClr val="C84E0B"/>
                </a:solidFill>
              </a:rPr>
              <a:t>Revised role of Stage 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2D25C0-B46B-41C3-BA7F-6D88A594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51515"/>
                </a:solidFill>
              </a:defRPr>
            </a:pPr>
            <a:r>
              <a:rPr sz="1500" b="0">
                <a:solidFill>
                  <a:srgbClr val="151515"/>
                </a:solidFill>
              </a:rPr>
              <a:t>Verified Gold-STL reference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51515"/>
                </a:solidFill>
              </a:defRPr>
            </a:pPr>
            <a:r>
              <a:rPr sz="1500" b="0">
                <a:solidFill>
                  <a:srgbClr val="151515"/>
                </a:solidFill>
              </a:rPr>
              <a:t>for a later formal-vs-direct comparison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243A17-94E2-46FC-AFFE-B95B1926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81650"/>
            <a:ext cx="754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53A2D"/>
                </a:solidFill>
              </a:defRPr>
            </a:pPr>
            <a:r>
              <a:rPr sz="1725" b="1">
                <a:solidFill>
                  <a:srgbClr val="B53A2D"/>
                </a:solidFill>
              </a:rPr>
              <a:t>INTEGRATION IS THE BASELINE, NOT THE CONTRIBUTION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C5EB7C-5E29-4C99-A2F6-1B532D5F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9A9A"/>
                </a:solidFill>
              </a:defRPr>
            </a:pPr>
            <a:r>
              <a:rPr sz="975" b="0">
                <a:solidFill>
                  <a:srgbClr val="9A9A9A"/>
                </a:solidFill>
              </a:rPr>
              <a:t>Research direction update</a:t>
            </a:r>
          </a:p>
        </p:txBody>
      </p:sp>
    </p:spTree>
    <p:extLst>
      <p:ext uri="{BB962C8B-B14F-4D97-AF65-F5344CB8AC3E}">
        <p14:creationId xmlns:p14="http://schemas.microsoft.com/office/powerpoint/2010/main" val="15182137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5">
            <a:extLst xmlns:a="http://schemas.openxmlformats.org/drawingml/2006/main">
              <a:ext uri="{FF2B5EF4-FFF2-40B4-BE49-F238E27FC236}">
                <a16:creationId xmlns:a16="http://schemas.microsoft.com/office/drawing/2014/main" id="{76ADBF8B-C6BD-4E32-A296-6B01CFED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51515"/>
                </a:solidFill>
              </a:defRPr>
            </a:pPr>
            <a:r>
              <a:rPr sz="2775" b="1">
                <a:solidFill>
                  <a:srgbClr val="151515"/>
                </a:solidFill>
              </a:rPr>
              <a:t>A Second Route Predicts Cost Directly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E8663-4023-43D7-8B58-84C168A7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9A9A9A"/>
                </a:solidFill>
              </a:defRPr>
            </a:pPr>
            <a:r>
              <a:rPr sz="1350" b="0">
                <a:solidFill>
                  <a:srgbClr val="9A9A9A"/>
                </a:solidFill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3468F-CA30-4355-8BA1-D1284E3D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C84E0B"/>
                </a:solidFill>
              </a:defRPr>
            </a:pPr>
            <a:r>
              <a:rPr sz="2175" b="1">
                <a:solidFill>
                  <a:srgbClr val="C84E0B"/>
                </a:solidFill>
              </a:rPr>
              <a:t>LOU ET AL. (2024)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19A05-3979-44A5-9081-4BD0D2C6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</a:defRPr>
            </a:pPr>
            <a:r>
              <a:rPr sz="1650" b="0">
                <a:solidFill>
                  <a:srgbClr val="666666"/>
                </a:solidFill>
              </a:rPr>
              <a:t>Same language, different representation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4C9D8-10BD-445C-9EB3-870DE521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143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E5258-6474-4E37-A001-AF3732F8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82828"/>
                </a:solidFill>
              </a:defRPr>
            </a:pPr>
            <a:r>
              <a:rPr sz="1800" b="1">
                <a:solidFill>
                  <a:srgbClr val="282828"/>
                </a:solidFill>
              </a:rPr>
              <a:t>Formal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08D42-BA4B-41DE-A175-8BE4C46B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4191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1515"/>
                </a:solidFill>
              </a:defRPr>
            </a:pPr>
            <a:r>
              <a:rPr sz="1650" b="0">
                <a:solidFill>
                  <a:srgbClr val="151515"/>
                </a:solidFill>
              </a:rPr>
              <a:t>Natural language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51515"/>
                </a:solidFill>
              </a:defRPr>
            </a:pPr>
            <a:r>
              <a:rPr sz="1650" b="0">
                <a:solidFill>
                  <a:srgbClr val="151515"/>
                </a:solidFill>
              </a:rPr>
              <a:t>→ STL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51515"/>
                </a:solidFill>
              </a:defRPr>
            </a:pPr>
            <a:r>
              <a:rPr sz="1650" b="0">
                <a:solidFill>
                  <a:srgbClr val="151515"/>
                </a:solidFill>
              </a:rPr>
              <a:t>→ verified monitor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51515"/>
                </a:solidFill>
              </a:defRPr>
            </a:pPr>
            <a:r>
              <a:rPr sz="1650" b="0">
                <a:solidFill>
                  <a:srgbClr val="151515"/>
                </a:solidFill>
              </a:rPr>
              <a:t>→ cost → Safe 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F2042-DE5B-4BAC-B135-7DBA692D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33600"/>
            <a:ext cx="5143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4288">
            <a:solidFill>
              <a:srgbClr val="2F6F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0D719-C0EF-425E-90C2-DA84239D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FAE"/>
                </a:solidFill>
              </a:defRPr>
            </a:pPr>
            <a:r>
              <a:rPr sz="1800" b="1">
                <a:solidFill>
                  <a:srgbClr val="2F6FAE"/>
                </a:solidFill>
              </a:rPr>
              <a:t>Direct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6F745-CCFB-4BF8-B1F1-BBE4EC26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9900"/>
            <a:ext cx="4114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51515"/>
                </a:solidFill>
              </a:defRPr>
            </a:pPr>
            <a:r>
              <a:rPr sz="2175" b="1">
                <a:solidFill>
                  <a:srgbClr val="151515"/>
                </a:solidFill>
              </a:rPr>
              <a:t>NL + observation</a:t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151515"/>
                </a:solidFill>
              </a:defRPr>
            </a:pPr>
            <a:r>
              <a:rPr sz="2175" b="1">
                <a:solidFill>
                  <a:srgbClr val="151515"/>
                </a:solidFill>
              </a:rPr>
              <a:t>→ learned cost predictor</a:t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151515"/>
                </a:solidFill>
              </a:defRPr>
            </a:pPr>
            <a:r>
              <a:rPr sz="2175" b="1">
                <a:solidFill>
                  <a:srgbClr val="151515"/>
                </a:solidFill>
              </a:rPr>
              <a:t>→ Safe 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A2FC6-B4FA-4228-8B7B-E47C0C05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95750"/>
            <a:ext cx="384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No explicit STL or executable monitor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77D98-CFFD-46A3-8DE0-2089978E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673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84E0B"/>
                </a:solidFill>
              </a:defRPr>
            </a:pPr>
            <a:r>
              <a:rPr sz="1875" b="1">
                <a:solidFill>
                  <a:srgbClr val="C84E0B"/>
                </a:solidFill>
              </a:rPr>
              <a:t>Formal representation vs learned 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08AB0-50CD-40DF-BFB0-2E929AE2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9A9A"/>
                </a:solidFill>
              </a:defRPr>
            </a:pPr>
            <a:r>
              <a:rPr sz="975" b="0">
                <a:solidFill>
                  <a:srgbClr val="9A9A9A"/>
                </a:solidFill>
              </a:rPr>
              <a:t>Research direction update</a:t>
            </a:r>
          </a:p>
        </p:txBody>
      </p:sp>
    </p:spTree>
    <p:extLst>
      <p:ext uri="{BB962C8B-B14F-4D97-AF65-F5344CB8AC3E}">
        <p14:creationId xmlns:p14="http://schemas.microsoft.com/office/powerpoint/2010/main" val="5486588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6">
            <a:extLst xmlns:a="http://schemas.openxmlformats.org/drawingml/2006/main">
              <a:ext uri="{FF2B5EF4-FFF2-40B4-BE49-F238E27FC236}">
                <a16:creationId xmlns:a16="http://schemas.microsoft.com/office/drawing/2014/main" id="{285E5143-EB9E-4BAF-AE51-35C1036D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51515"/>
                </a:solidFill>
              </a:defRPr>
            </a:pPr>
            <a:r>
              <a:rPr sz="2775" b="1">
                <a:solidFill>
                  <a:srgbClr val="151515"/>
                </a:solidFill>
              </a:rPr>
              <a:t>Revised Core Research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BC70D-F7AC-42C2-A555-5D4F4598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9A9A9A"/>
                </a:solidFill>
              </a:defRPr>
            </a:pPr>
            <a:r>
              <a:rPr sz="1350" b="0">
                <a:solidFill>
                  <a:srgbClr val="9A9A9A"/>
                </a:solidFill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28474-2A7D-4A01-8C4E-0BFBF449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66800"/>
            <a:ext cx="10210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4288">
            <a:solidFill>
              <a:srgbClr val="F3702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72F03-235B-4591-A924-2FC31811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371600"/>
            <a:ext cx="925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51515"/>
                </a:solidFill>
              </a:defRPr>
            </a:pPr>
            <a:r>
              <a:rPr sz="1950" b="1">
                <a:solidFill>
                  <a:srgbClr val="151515"/>
                </a:solidFill>
              </a:rPr>
              <a:t>Under matched conditions, does the formal path preserve temporal safety meaning more faithfully than direct cost prediction?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6F981-AF93-45D2-8F3E-52ACBD04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82828"/>
                </a:solidFill>
              </a:defRPr>
            </a:pPr>
            <a:r>
              <a:rPr sz="1800" b="1">
                <a:solidFill>
                  <a:srgbClr val="282828"/>
                </a:solidFill>
              </a:rPr>
              <a:t>Controlled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8FC0C-C594-4E8F-AB44-A2746EE7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3143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84E0B"/>
                </a:solidFill>
              </a:defRPr>
            </a:pPr>
            <a:r>
              <a:rPr sz="1875" b="1">
                <a:solidFill>
                  <a:srgbClr val="C84E0B"/>
                </a:solidFill>
              </a:rPr>
              <a:t>Same environment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C84E0B"/>
                </a:solidFill>
              </a:defRPr>
            </a:pPr>
            <a:r>
              <a:rPr sz="1875" b="1">
                <a:solidFill>
                  <a:srgbClr val="C84E0B"/>
                </a:solidFill>
              </a:rPr>
              <a:t>Same trajectories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C84E0B"/>
                </a:solidFill>
              </a:defRPr>
            </a:pPr>
            <a:r>
              <a:rPr sz="1875" b="1">
                <a:solidFill>
                  <a:srgbClr val="C84E0B"/>
                </a:solidFill>
              </a:rPr>
              <a:t>Same Safe RL 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2D798-FBAD-4D5B-8DC6-9AD4AA24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61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No presumed winner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Matched data and budgets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B08D2-FBF6-46AF-A128-78DD5A8F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82828"/>
                </a:solidFill>
              </a:defRPr>
            </a:pPr>
            <a:r>
              <a:rPr sz="1800" b="1">
                <a:solidFill>
                  <a:srgbClr val="282828"/>
                </a:solidFill>
              </a:rPr>
              <a:t>Compare at three levels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B6114-8D24-447F-8CBE-C6F8E004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619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B53A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A2454-8E16-44E3-A44A-0E5EDAE9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81350"/>
            <a:ext cx="588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53A2D"/>
                </a:solidFill>
              </a:defRPr>
            </a:pPr>
            <a:r>
              <a:rPr sz="1575" b="1">
                <a:solidFill>
                  <a:srgbClr val="B53A2D"/>
                </a:solidFill>
              </a:rPr>
              <a:t>Semantic fidelity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23C9C1-A7B4-43E5-A2DA-A8129A7C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48050"/>
            <a:ext cx="588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Time, ordering, and negation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59C40-9776-4A9B-98E9-155ABF26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619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7D8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2DA082-EC34-4C6F-ACCE-29BF4FC0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52900"/>
            <a:ext cx="588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A66A00"/>
                </a:solidFill>
              </a:defRPr>
            </a:pPr>
            <a:r>
              <a:rPr sz="1575" b="1">
                <a:solidFill>
                  <a:srgbClr val="A66A00"/>
                </a:solidFill>
              </a:rPr>
              <a:t>Trajectory cost labels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EB09D-A766-42E1-9834-E38DE0AE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19600"/>
            <a:ext cx="588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Which trajectories violate?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50F47-DF83-43C2-9DBC-AC377FFA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72050"/>
            <a:ext cx="619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2E7D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2B351E-622F-4D1E-9271-6C9646E4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24450"/>
            <a:ext cx="588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E7D4F"/>
                </a:solidFill>
              </a:defRPr>
            </a:pPr>
            <a:r>
              <a:rPr sz="1575" b="1">
                <a:solidFill>
                  <a:srgbClr val="2E7D4F"/>
                </a:solidFill>
              </a:rPr>
              <a:t>Policy behavior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63B90-6EFB-40FC-817B-AA466BBA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391150"/>
            <a:ext cx="588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Safety and task performance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E3C99-1FA3-42B5-9E61-17F55FBC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9A9A"/>
                </a:solidFill>
              </a:defRPr>
            </a:pPr>
            <a:r>
              <a:rPr sz="975" b="0">
                <a:solidFill>
                  <a:srgbClr val="9A9A9A"/>
                </a:solidFill>
              </a:rPr>
              <a:t>Research direction update</a:t>
            </a:r>
          </a:p>
        </p:txBody>
      </p:sp>
    </p:spTree>
    <p:extLst>
      <p:ext uri="{BB962C8B-B14F-4D97-AF65-F5344CB8AC3E}">
        <p14:creationId xmlns:p14="http://schemas.microsoft.com/office/powerpoint/2010/main" val="11415380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3">
            <a:extLst xmlns:a="http://schemas.openxmlformats.org/drawingml/2006/main">
              <a:ext uri="{FF2B5EF4-FFF2-40B4-BE49-F238E27FC236}">
                <a16:creationId xmlns:a16="http://schemas.microsoft.com/office/drawing/2014/main" id="{8B97C843-1788-4490-A180-C73A776A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51515"/>
                </a:solidFill>
              </a:defRPr>
            </a:pPr>
            <a:r>
              <a:rPr sz="2775" b="1">
                <a:solidFill>
                  <a:srgbClr val="151515"/>
                </a:solidFill>
              </a:rPr>
              <a:t>The Comparison Proceeds Offline, Then Online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62919-943A-4D4E-A6B1-EE88FB1F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9A9A9A"/>
                </a:solidFill>
              </a:defRPr>
            </a:pPr>
            <a:r>
              <a:rPr sz="1350" b="0">
                <a:solidFill>
                  <a:srgbClr val="9A9A9A"/>
                </a:solidFill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B50C9-67DB-4F07-8B97-DA46D73A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24150"/>
            <a:ext cx="5334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EDEA6-DAEE-4D39-9DA3-CD284E24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24150"/>
            <a:ext cx="5334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AA645-11A0-4ABB-B1CA-0787580D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32194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28575">
            <a:solidFill>
              <a:srgbClr val="F3702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290C6-6B95-4665-AD0C-501981A4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C84E0B"/>
                </a:solidFill>
              </a:defRPr>
            </a:pPr>
            <a:r>
              <a:rPr sz="1950" b="1">
                <a:solidFill>
                  <a:srgbClr val="C84E0B"/>
                </a:solidFill>
              </a:rPr>
              <a:t>Offline labels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08E1E-3A72-4B76-BA55-0CE8C817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29146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Same commands</a:t>
            </a:r>
          </a:p>
          <a:p xmlns:a="http://schemas.openxmlformats.org/drawingml/2006/main">
            <a:r>
              <a:t>Same trajectories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Gold violation labels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Formal vs direct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47740-66CF-4236-83BD-CE242C70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18110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9525">
            <a:solidFill>
              <a:srgbClr val="C84E0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98DE2-68F8-4E2B-AB7E-C820131E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2287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C84E0B"/>
                </a:solidFill>
              </a:defRPr>
            </a:pPr>
            <a:r>
              <a:rPr sz="1050" b="1">
                <a:solidFill>
                  <a:srgbClr val="C84E0B"/>
                </a:solidFill>
              </a:rPr>
              <a:t>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217AC-CA8A-43D8-B3E5-439A6E65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24000"/>
            <a:ext cx="32194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7D8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132A6-773B-4241-8676-0744D59F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764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A66A00"/>
                </a:solidFill>
              </a:defRPr>
            </a:pPr>
            <a:r>
              <a:rPr sz="1800" b="1">
                <a:solidFill>
                  <a:srgbClr val="A66A00"/>
                </a:solidFill>
              </a:rPr>
              <a:t>Accuracy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37B03-B0A5-4E94-B775-4D84D893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57400"/>
            <a:ext cx="29146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Only methods reaching</a:t>
            </a:r>
          </a:p>
          <a:p xmlns:a="http://schemas.openxmlformats.org/drawingml/2006/main">
            <a:r>
              <a:t>a predeclared minimum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label quality proceed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E1EBEA-EE51-4D45-94B4-2629B835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24000"/>
            <a:ext cx="32194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F6FA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40AF5-9928-4AC3-A113-BBA8C886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764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FAE"/>
                </a:solidFill>
              </a:defRPr>
            </a:pPr>
            <a:r>
              <a:rPr sz="1800" b="1">
                <a:solidFill>
                  <a:srgbClr val="2F6FAE"/>
                </a:solidFill>
              </a:rPr>
              <a:t>Matched Safe RL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21B4A-3B5E-4E95-84D6-FB4E3750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29146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Same backend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Matched seeds and budget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Gold-STL evaluation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685BD-52C5-4850-891E-D2A40399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8191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397D2-65BE-4432-A4FD-E8504F23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181600"/>
            <a:ext cx="750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51515"/>
                </a:solidFill>
              </a:defRPr>
            </a:pPr>
            <a:r>
              <a:rPr sz="1800" b="1">
                <a:solidFill>
                  <a:srgbClr val="151515"/>
                </a:solidFill>
              </a:rPr>
              <a:t>Track errors across specification, cost labels, and policy behavior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64F428-630E-4006-B356-D5B4E634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9A9A"/>
                </a:solidFill>
              </a:defRPr>
            </a:pPr>
            <a:r>
              <a:rPr sz="975" b="0">
                <a:solidFill>
                  <a:srgbClr val="9A9A9A"/>
                </a:solidFill>
              </a:rPr>
              <a:t>Research direction update</a:t>
            </a:r>
          </a:p>
        </p:txBody>
      </p:sp>
    </p:spTree>
    <p:extLst>
      <p:ext uri="{BB962C8B-B14F-4D97-AF65-F5344CB8AC3E}">
        <p14:creationId xmlns:p14="http://schemas.microsoft.com/office/powerpoint/2010/main" val="20531092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9">
            <a:extLst xmlns:a="http://schemas.openxmlformats.org/drawingml/2006/main">
              <a:ext uri="{FF2B5EF4-FFF2-40B4-BE49-F238E27FC236}">
                <a16:creationId xmlns:a16="http://schemas.microsoft.com/office/drawing/2014/main" id="{7CA815D3-E47F-449B-B3D6-46461100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51515"/>
                </a:solidFill>
              </a:defRPr>
            </a:pPr>
            <a:r>
              <a:rPr sz="2775" b="1">
                <a:solidFill>
                  <a:srgbClr val="151515"/>
                </a:solidFill>
              </a:rPr>
              <a:t>Current Gold-STL Pilot Builds the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3619C-E8E0-4DD5-BB97-2B6B26D7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9A9A9A"/>
                </a:solidFill>
              </a:defRPr>
            </a:pPr>
            <a:r>
              <a:rPr sz="1350" b="0">
                <a:solidFill>
                  <a:srgbClr val="9A9A9A"/>
                </a:solidFill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029B5-08AB-4B6F-9F6C-665A3171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84E0B"/>
                </a:solidFill>
              </a:defRPr>
            </a:pPr>
            <a:r>
              <a:rPr sz="1875" b="1">
                <a:solidFill>
                  <a:srgbClr val="C84E0B"/>
                </a:solidFill>
              </a:rPr>
              <a:t>Not the final paper experiment and not a natural-language experiment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9FCC3-C1C4-42C7-A77A-326B395B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33147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F6F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4E44A-AF4D-4A64-83B9-DDA5C874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FAE"/>
                </a:solidFill>
              </a:defRPr>
            </a:pPr>
            <a:r>
              <a:rPr sz="1800" b="1">
                <a:solidFill>
                  <a:srgbClr val="2F6FAE"/>
                </a:solidFill>
              </a:rPr>
              <a:t>What is verified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55DA5-1A3F-4655-BF11-06CD8730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3009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Gold formula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monitor/oracle agreement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cost routing to PPOLag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93B60-F78D-4E30-8C4B-6956E0B1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24050"/>
            <a:ext cx="3009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28575">
            <a:solidFill>
              <a:srgbClr val="F3702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5DC87-701D-423A-B765-9C18B593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764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84E0B"/>
                </a:solidFill>
              </a:defRPr>
            </a:pPr>
            <a:r>
              <a:rPr sz="1800" b="1">
                <a:solidFill>
                  <a:srgbClr val="C84E0B"/>
                </a:solidFill>
              </a:rPr>
              <a:t>Pilot 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786D6-FB37-4619-A3B6-AF145CC5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57450"/>
            <a:ext cx="2705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Task only: 25.85%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Gold STL: 26.03%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No measured safety improvement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61C65-2911-4FAF-8FD7-8E93D147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24050"/>
            <a:ext cx="33147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2E7D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109DA-64C6-417D-B16C-8EFE0F9C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764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E7D4F"/>
                </a:solidFill>
              </a:defRPr>
            </a:pPr>
            <a:r>
              <a:rPr sz="1800" b="1">
                <a:solidFill>
                  <a:srgbClr val="2E7D4F"/>
                </a:solidFill>
              </a:rPr>
              <a:t>What must be diagnosed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5B79B-88C0-4E55-995D-4624A099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57450"/>
            <a:ext cx="3009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Actual trajectories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sparsity / 79-step delay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cost limit / optimization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training horizon / PPOLag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D0AA20-7CF1-49E9-B318-4AEE4667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82828"/>
                </a:solidFill>
              </a:defRPr>
            </a:pPr>
            <a:r>
              <a:rPr sz="1800" b="1">
                <a:solidFill>
                  <a:srgbClr val="282828"/>
                </a:solidFill>
              </a:rPr>
              <a:t>Role in the full study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5627A9-533B-43D7-B81C-514C00E2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626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51515"/>
                </a:solidFill>
              </a:defRPr>
            </a:pPr>
            <a:r>
              <a:rPr sz="1875" b="1">
                <a:solidFill>
                  <a:srgbClr val="151515"/>
                </a:solidFill>
              </a:rPr>
              <a:t>Establish a trustworthy Gold-STL reference before the formal-vs-direct comparison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943450-4192-4F39-AE80-F81CCBB8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9A9A"/>
                </a:solidFill>
              </a:defRPr>
            </a:pPr>
            <a:r>
              <a:rPr sz="975" b="0">
                <a:solidFill>
                  <a:srgbClr val="9A9A9A"/>
                </a:solidFill>
              </a:rPr>
              <a:t>Research direction update</a:t>
            </a:r>
          </a:p>
        </p:txBody>
      </p:sp>
    </p:spTree>
    <p:extLst>
      <p:ext uri="{BB962C8B-B14F-4D97-AF65-F5344CB8AC3E}">
        <p14:creationId xmlns:p14="http://schemas.microsoft.com/office/powerpoint/2010/main" val="408678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2026-08-12T21:05:01.5840000Z</dcterms:created>
  <dcterms:modified xsi:type="dcterms:W3CDTF">2026-08-12T21:05:01.5840000Z</dcterms:modified>
</coreProperties>
</file>