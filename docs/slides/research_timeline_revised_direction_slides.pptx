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1c5ff988e54b96" /><Relationship Type="http://schemas.openxmlformats.org/officeDocument/2006/relationships/extended-properties" Target="/docProps/app.xml" Id="R9533a157f48e4b2c" /><Relationship Type="http://schemas.openxmlformats.org/officeDocument/2006/relationships/officeDocument" Target="/ppt/presentation.xml" Id="R29a341d5f0034c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818068bb1c4f7e"/>
  </p:sldMasterIdLst>
  <p:notesMasterIdLst>
    <p:notesMasterId xmlns:r="http://schemas.openxmlformats.org/officeDocument/2006/relationships" r:id="R53f9b552eb3441e0"/>
  </p:notesMasterIdLst>
  <p:sldIdLst>
    <p:sldId xmlns:r="http://schemas.openxmlformats.org/officeDocument/2006/relationships" id="256" r:id="R77eef978543647d5"/>
    <p:sldId xmlns:r="http://schemas.openxmlformats.org/officeDocument/2006/relationships" id="257" r:id="Rca7133788d374dac"/>
    <p:sldId xmlns:r="http://schemas.openxmlformats.org/officeDocument/2006/relationships" id="258" r:id="R89220e8c19374abe"/>
    <p:sldId xmlns:r="http://schemas.openxmlformats.org/officeDocument/2006/relationships" id="259" r:id="R2a66d5e70d814278"/>
    <p:sldId xmlns:r="http://schemas.openxmlformats.org/officeDocument/2006/relationships" id="260" r:id="R53989aa0a44e4656"/>
    <p:sldId xmlns:r="http://schemas.openxmlformats.org/officeDocument/2006/relationships" id="261" r:id="R019f85699a934561"/>
    <p:sldId xmlns:r="http://schemas.openxmlformats.org/officeDocument/2006/relationships" id="262" r:id="R5564c05b08c147bc"/>
    <p:sldId xmlns:r="http://schemas.openxmlformats.org/officeDocument/2006/relationships" id="263" r:id="R2d1c4015735248e9"/>
    <p:sldId xmlns:r="http://schemas.openxmlformats.org/officeDocument/2006/relationships" id="264" r:id="R4622edf9093b45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67ccaa94b54137" /><Relationship Type="http://schemas.openxmlformats.org/officeDocument/2006/relationships/slideMaster" Target="/ppt/slideMasters/slideMaster1.xml" Id="Rf1818068bb1c4f7e" /><Relationship Type="http://schemas.openxmlformats.org/officeDocument/2006/relationships/notesMaster" Target="/ppt/notesMasters/notesMaster1.xml" Id="R53f9b552eb3441e0" /><Relationship Type="http://schemas.openxmlformats.org/officeDocument/2006/relationships/presProps" Target="/ppt/presProps.xml" Id="R46116659c1374f66" /><Relationship Type="http://schemas.openxmlformats.org/officeDocument/2006/relationships/tableStyles" Target="/ppt/tableStyles.xml" Id="Rca9f581237584ce6" /><Relationship Type="http://schemas.openxmlformats.org/officeDocument/2006/relationships/slide" Target="/ppt/slides/slide1.xml" Id="R77eef978543647d5" /><Relationship Type="http://schemas.openxmlformats.org/officeDocument/2006/relationships/slide" Target="/ppt/slides/slide2.xml" Id="Rca7133788d374dac" /><Relationship Type="http://schemas.openxmlformats.org/officeDocument/2006/relationships/slide" Target="/ppt/slides/slide3.xml" Id="R89220e8c19374abe" /><Relationship Type="http://schemas.openxmlformats.org/officeDocument/2006/relationships/slide" Target="/ppt/slides/slide4.xml" Id="R2a66d5e70d814278" /><Relationship Type="http://schemas.openxmlformats.org/officeDocument/2006/relationships/slide" Target="/ppt/slides/slide5.xml" Id="R53989aa0a44e4656" /><Relationship Type="http://schemas.openxmlformats.org/officeDocument/2006/relationships/slide" Target="/ppt/slides/slide6.xml" Id="R019f85699a934561" /><Relationship Type="http://schemas.openxmlformats.org/officeDocument/2006/relationships/slide" Target="/ppt/slides/slide7.xml" Id="R5564c05b08c147bc" /><Relationship Type="http://schemas.openxmlformats.org/officeDocument/2006/relationships/slide" Target="/ppt/slides/slide8.xml" Id="R2d1c4015735248e9" /><Relationship Type="http://schemas.openxmlformats.org/officeDocument/2006/relationships/slide" Target="/ppt/slides/slide9.xml" Id="R4622edf9093b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5a8e6916a744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a66d57c8348fe" /><Relationship Type="http://schemas.openxmlformats.org/officeDocument/2006/relationships/notesMaster" Target="/ppt/notesMasters/notesMaster1.xml" Id="R49a3068ed5224d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3dcfe87e74110" /><Relationship Type="http://schemas.openxmlformats.org/officeDocument/2006/relationships/notesMaster" Target="/ppt/notesMasters/notesMaster1.xml" Id="R441422f3816a48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33a1c94a4479f" /><Relationship Type="http://schemas.openxmlformats.org/officeDocument/2006/relationships/notesMaster" Target="/ppt/notesMasters/notesMaster1.xml" Id="Rf5805a52236a4f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2892d4871741d7" /><Relationship Type="http://schemas.openxmlformats.org/officeDocument/2006/relationships/notesMaster" Target="/ppt/notesMasters/notesMaster1.xml" Id="R83bea6a9d21546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60e14354dd4fa0" /><Relationship Type="http://schemas.openxmlformats.org/officeDocument/2006/relationships/notesMaster" Target="/ppt/notesMasters/notesMaster1.xml" Id="Ra7d8d34bb2514c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a5b56bcd0e47be" /><Relationship Type="http://schemas.openxmlformats.org/officeDocument/2006/relationships/notesMaster" Target="/ppt/notesMasters/notesMaster1.xml" Id="R715bb2beae204f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4c963788554b76" /><Relationship Type="http://schemas.openxmlformats.org/officeDocument/2006/relationships/notesMaster" Target="/ppt/notesMasters/notesMaster1.xml" Id="Rae04a1ab41144b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17d0c615ac4315" /><Relationship Type="http://schemas.openxmlformats.org/officeDocument/2006/relationships/notesMaster" Target="/ppt/notesMasters/notesMaster1.xml" Id="R28658e17de2f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57df4b5d264723" /><Relationship Type="http://schemas.openxmlformats.org/officeDocument/2006/relationships/notesMaster" Target="/ppt/notesMasters/notesMaster1.xml" Id="R79950d5b1b6d45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/Users/yuhang/Downloads/STL/docs/END_TO_END_RESEARCH_PIPELINE.md</a:t>
            </a:r>
          </a:p>
          <a:p xmlns:a="http://schemas.openxmlformats.org/drawingml/2006/main">
            <a:r>
              <a:t>- /Users/yuhang/Downloads/STL/PROJECT_CONTEXT.md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/Users/yuhang/Downloads/STL/docs/END_TO_END_RESEARCH_PIPELINE.md#2-为什么原始目标被修改</a:t>
            </a:r>
          </a:p>
          <a:p xmlns:a="http://schemas.openxmlformats.org/drawingml/2006/main">
            <a:r>
              <a:t>- /Users/yuhang/Downloads/STL/PROJECT_CONTEXT.md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/Users/yuhang/Downloads/STL/references/papers/2023_NL2TL.pdf</a:t>
            </a:r>
          </a:p>
          <a:p xmlns:a="http://schemas.openxmlformats.org/drawingml/2006/main">
            <a:r>
              <a:t>- /Users/yuhang/Downloads/STL/references/papers/2025_DeepLTL.pdf</a:t>
            </a:r>
          </a:p>
          <a:p xmlns:a="http://schemas.openxmlformats.org/drawingml/2006/main">
            <a:r>
              <a:t>- /Users/yuhang/Downloads/STL/references/papers/2026_UAV_NL_STL_MILP_Repair_8.10.pdf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/Users/yuhang/Downloads/STL/references/papers/related/2022_STL_Constraints_Lagrangian_DRL_8.10.pdf</a:t>
            </a:r>
          </a:p>
          <a:p xmlns:a="http://schemas.openxmlformats.org/drawingml/2006/main">
            <a:r>
              <a:t>- /Users/yuhang/Downloads/STL/references/papers/related/2026_PPO_LTL_8.10.pdf</a:t>
            </a:r>
          </a:p>
          <a:p xmlns:a="http://schemas.openxmlformats.org/drawingml/2006/main">
            <a:r>
              <a:t>- https://openreview.net/forum?id=MIcZ9q09Q4</a:t>
            </a:r>
          </a:p>
          <a:p xmlns:a="http://schemas.openxmlformats.org/drawingml/2006/main">
            <a:r>
              <a:t>- /Users/yuhang/Downloads/STL/docs/research_direction_novelty_feasibility.md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/Users/yuhang/Downloads/STL/docs/END_TO_END_RESEARCH_PIPELINE.md#1-一句话研究目标</a:t>
            </a:r>
          </a:p>
          <a:p xmlns:a="http://schemas.openxmlformats.org/drawingml/2006/main">
            <a:r>
              <a:t>- /Users/yuhang/Downloads/STL/references/papers/related/2024_Freeform_NL_Constraints_Safe_RL_8.10.pdf</a:t>
            </a:r>
          </a:p>
          <a:p xmlns:a="http://schemas.openxmlformats.org/drawingml/2006/main">
            <a:r>
              <a:t>- /Users/yuhang/Downloads/STL/docs/theory_and_revised_experiment_8.10.md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/Users/yuhang/Downloads/STL/docs/END_TO_END_RESEARCH_PIPELINE.md#5-三个研究-stage-与七个执行-work-package</a:t>
            </a:r>
          </a:p>
          <a:p xmlns:a="http://schemas.openxmlformats.org/drawingml/2006/main">
            <a:r>
              <a:t>- /Users/yuhang/Downloads/STL/DECISIONS.md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/Users/yuhang/Downloads/STL/configs/stage1_rule.yaml</a:t>
            </a:r>
          </a:p>
          <a:p xmlns:a="http://schemas.openxmlformats.org/drawingml/2006/main">
            <a:r>
              <a:t>- /Users/yuhang/Downloads/STL/docs/stage1_rule_monitor_spec.md</a:t>
            </a:r>
          </a:p>
          <a:p xmlns:a="http://schemas.openxmlformats.org/drawingml/2006/main">
            <a:r>
              <a:t>- /Users/yuhang/Downloads/STL/docs/rule_calibration_report.md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/Users/yuhang/Downloads/STL/configs/stage1_pilot/protocol.yaml</a:t>
            </a:r>
          </a:p>
          <a:p xmlns:a="http://schemas.openxmlformats.org/drawingml/2006/main">
            <a:r>
              <a:t>- /Users/yuhang/Downloads/STL/docs/stage1_pilot_launch_readiness.md</a:t>
            </a:r>
          </a:p>
          <a:p xmlns:a="http://schemas.openxmlformats.org/drawingml/2006/main">
            <a:r>
              <a:t>- /Users/yuhang/Downloads/STL/docs/CURRENT_EXECUTION_DIRECTIVE.md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/Users/yuhang/Downloads/STL/docs/END_TO_END_RESEARCH_PIPELINE.md#7-wp2-构建受控语言与轨迹-benchmark</a:t>
            </a:r>
          </a:p>
          <a:p xmlns:a="http://schemas.openxmlformats.org/drawingml/2006/main">
            <a:r>
              <a:t>- /Users/yuhang/Downloads/STL/docs/research_direction_novelty_feasibility.md</a:t>
            </a:r>
          </a:p>
          <a:p xmlns:a="http://schemas.openxmlformats.org/drawingml/2006/main">
            <a:r>
              <a:t>- /Users/yuhang/Downloads/STL/references/papers/related/2024_Freeform_NL_Constraints_Safe_RL_8.10.pdf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67b386c604f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599d7de7b24f36" /><Relationship Type="http://schemas.openxmlformats.org/officeDocument/2006/relationships/slideLayout" Target="/ppt/slideLayouts/slideLayout1.xml" Id="R3fffc70d499743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ffc70d4997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dc61ca964c2a" /><Relationship Type="http://schemas.openxmlformats.org/officeDocument/2006/relationships/notesSlide" Target="/ppt/notesSlides/notesSlide1.xml" Id="Re12455126d2a4f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5679a79554a5a" /><Relationship Type="http://schemas.openxmlformats.org/officeDocument/2006/relationships/notesSlide" Target="/ppt/notesSlides/notesSlide2.xml" Id="Rca55f6da3e9c49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22818ffa54178" /><Relationship Type="http://schemas.openxmlformats.org/officeDocument/2006/relationships/notesSlide" Target="/ppt/notesSlides/notesSlide3.xml" Id="R31135f39d9d147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c19791a674966" /><Relationship Type="http://schemas.openxmlformats.org/officeDocument/2006/relationships/notesSlide" Target="/ppt/notesSlides/notesSlide4.xml" Id="R4e73005c3af448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c406eba3a4e76" /><Relationship Type="http://schemas.openxmlformats.org/officeDocument/2006/relationships/notesSlide" Target="/ppt/notesSlides/notesSlide5.xml" Id="Ra6a80a3edeaa48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f5011fcb34d43" /><Relationship Type="http://schemas.openxmlformats.org/officeDocument/2006/relationships/notesSlide" Target="/ppt/notesSlides/notesSlide6.xml" Id="Rb34edffa8e99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1671588084b47" /><Relationship Type="http://schemas.openxmlformats.org/officeDocument/2006/relationships/notesSlide" Target="/ppt/notesSlides/notesSlide7.xml" Id="R413c6b7cdba4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849b719f5488b" /><Relationship Type="http://schemas.openxmlformats.org/officeDocument/2006/relationships/notesSlide" Target="/ppt/notesSlides/notesSlide8.xml" Id="R612cc689be6842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8c1c957a84af2" /><Relationship Type="http://schemas.openxmlformats.org/officeDocument/2006/relationships/notesSlide" Target="/ppt/notesSlides/notesSlide9.xml" Id="Rbdfc7d009d464f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1">
            <a:extLst xmlns:a="http://schemas.openxmlformats.org/drawingml/2006/main">
              <a:ext uri="{FF2B5EF4-FFF2-40B4-BE49-F238E27FC236}">
                <a16:creationId xmlns:a16="http://schemas.microsoft.com/office/drawing/2014/main" id="{5700EDED-6A8C-4438-8988-9234C39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Original Goal: Natural Language to Safe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71A1F-E996-4F4D-9591-9B4C7E73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7C876-56FD-4D51-8561-41A87913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23950"/>
            <a:ext cx="998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9050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825AF-380B-444B-A7C2-103F22D0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390650"/>
            <a:ext cx="922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51515"/>
                </a:solidFill>
              </a:defRPr>
            </a:pPr>
            <a:r>
              <a:rPr sz="2025" b="1">
                <a:solidFill>
                  <a:srgbClr val="151515"/>
                </a:solidFill>
              </a:rPr>
              <a:t>"Reach the goal. If you get too close to a hazard, return to a safe distance within the allowed time."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1E900-24EF-4750-B134-ECCC139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6F69D-3DBC-400D-A3E3-A9C39641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7148E-AE9B-4C79-BC5D-40B8459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FEE71-EEA1-4D65-AC2E-588594B6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438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6899B-A559-46AA-A565-9C133B7D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B53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6FFB5-9C71-4E9B-8979-685DE8BB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NL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2110B-37E6-4319-8BB3-37A11E2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14288">
            <a:solidFill>
              <a:srgbClr val="A66A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93C34-1DE9-4DC0-B04C-936F8F58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Translate safety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to STL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1122B-57D7-4391-B4FE-2A513A92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6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98B6F-408B-470C-9D02-E21095DB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Verified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monitor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EEB66-E1E9-420F-BCCB-61BD2A8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14288">
            <a:solidFill>
              <a:srgbClr val="6650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11367-838F-4CC4-8416-6C0B6A74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Produce a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safety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A2827-04DC-4D09-9B8B-1E5CD999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771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E7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1C85F-2B37-4950-81AE-490A6A6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99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Train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Safe 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C2B40-21D4-46B3-8E4D-5A7625B3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925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52ECE-B2F9-4790-BE84-391092D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10125"/>
            <a:ext cx="853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NL  →  STL  →  verified monitor  →  cost  →  Safe RL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2FEAD-A6E0-408B-8647-DB30A9E0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Research timeline</a:t>
            </a:r>
          </a:p>
        </p:txBody>
      </p:sp>
    </p:spTree>
    <p:extLst>
      <p:ext uri="{BB962C8B-B14F-4D97-AF65-F5344CB8AC3E}">
        <p14:creationId xmlns:p14="http://schemas.microsoft.com/office/powerpoint/2010/main" val="258220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2">
            <a:extLst xmlns:a="http://schemas.openxmlformats.org/drawingml/2006/main">
              <a:ext uri="{FF2B5EF4-FFF2-40B4-BE49-F238E27FC236}">
                <a16:creationId xmlns:a16="http://schemas.microsoft.com/office/drawing/2014/main" id="{B61899F4-8FE1-46AC-8D9D-EFF86459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Why Not Test the Full Chain at Once?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0833E-2D95-4232-A9C1-655C496F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2D903-538F-484D-A46A-2032E4CC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Three layers must work together: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5E8A5-B09F-444D-9F5F-E72E88B1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39275-AB4C-4B81-85BE-A72E5F41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84E0B"/>
                </a:solidFill>
              </a:defRPr>
            </a:pPr>
            <a:r>
              <a:rPr sz="1725" b="1">
                <a:solidFill>
                  <a:srgbClr val="C84E0B"/>
                </a:solidFill>
              </a:rPr>
              <a:t>1.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55316-3EC9-43BD-AA84-F6EBDEA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Translation and signal/parameter grounding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CF8B3-7A15-4906-B837-F77B3A43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C4E96-748F-4124-AF89-A213A357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145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A66A00"/>
                </a:solidFill>
              </a:defRPr>
            </a:pPr>
            <a:r>
              <a:rPr sz="1725" b="1">
                <a:solidFill>
                  <a:srgbClr val="A66A00"/>
                </a:solidFill>
              </a:rPr>
              <a:t>2. Logic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B03C5-D4A1-4C2D-8413-11E8C2D4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955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STL semantics, monitoring, and cost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63481-3B33-4A1D-A99A-0C44F433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14C56-C2BD-4785-AAA2-BE4BCFF6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145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FAE"/>
                </a:solidFill>
              </a:defRPr>
            </a:pPr>
            <a:r>
              <a:rPr sz="1725" b="1">
                <a:solidFill>
                  <a:srgbClr val="2F6FAE"/>
                </a:solidFill>
              </a:rPr>
              <a:t>3. Policy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73099-56A7-42D4-A8D4-8171CE7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Safe RL optimization and task-safety trade-off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648C1-C6FD-411E-8221-B94ECEB2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One failed run has five possible causes: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F7AF2-949E-482A-A05E-8AF6252D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906">
            <a:solidFill>
              <a:srgbClr val="B53A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33440-C0E0-4523-B6A7-B9D07CC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Translation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5E8FD-AAE1-4181-A2AB-1F1892C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906">
            <a:solidFill>
              <a:srgbClr val="2F6F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60771-767D-4D52-A663-0D44CF11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Grounding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27688-B482-4FD9-A825-0C5CB10A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906">
            <a:solidFill>
              <a:srgbClr val="2E7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ED8A3-6EA6-4DD1-9B34-1FCBE266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Monitor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11720-9405-4057-AFA3-3F3F78C4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11906">
            <a:solidFill>
              <a:srgbClr val="6650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28F46-802B-4C1F-98EF-F68067C9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Cost routing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EA766-3A70-408D-B598-468103AE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90950"/>
            <a:ext cx="1866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1906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6BFEB-CDD1-4E24-933D-446FE028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576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RL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8E016-7B89-4427-B99A-53A645DC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792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4E0B"/>
                </a:solidFill>
              </a:defRPr>
            </a:pPr>
            <a:r>
              <a:rPr sz="2025" b="1">
                <a:solidFill>
                  <a:srgbClr val="C84E0B"/>
                </a:solidFill>
              </a:rPr>
              <a:t>Failure source remains ambiguous.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DDA2C-0BA7-4D0B-9D56-92E1DC52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Research timeline</a:t>
            </a:r>
          </a:p>
        </p:txBody>
      </p:sp>
    </p:spTree>
    <p:extLst>
      <p:ext uri="{BB962C8B-B14F-4D97-AF65-F5344CB8AC3E}">
        <p14:creationId xmlns:p14="http://schemas.microsoft.com/office/powerpoint/2010/main" val="231509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3">
            <a:extLst xmlns:a="http://schemas.openxmlformats.org/drawingml/2006/main">
              <a:ext uri="{FF2B5EF4-FFF2-40B4-BE49-F238E27FC236}">
                <a16:creationId xmlns:a16="http://schemas.microsoft.com/office/drawing/2014/main" id="{8B97C843-1788-4490-A180-C73A776A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Early Papers Covered Different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62919-943A-4D4E-A6B1-EE88FB1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B50C9-67DB-4F07-8B97-DA46D73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1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EDEA6-DAEE-4D39-9DA3-CD284E24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AA645-11A0-4ABB-B1CA-0787580D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290C6-6B95-4665-AD0C-501981A4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84E0B"/>
                </a:solidFill>
              </a:defRPr>
            </a:pPr>
            <a:r>
              <a:rPr sz="1950" b="1">
                <a:solidFill>
                  <a:srgbClr val="C84E0B"/>
                </a:solidFill>
              </a:rPr>
              <a:t>NL2TL (2023)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08E1E-3A72-4B76-BA55-0CE8C81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Natural language</a:t>
            </a:r>
          </a:p>
          <a:p xmlns:a="http://schemas.openxmlformats.org/drawingml/2006/main">
            <a:r>
              <a:t>→ temporal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217AC-CA8A-43D8-B3E5-439A6E6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132A6-773B-4241-8676-0744D59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66A00"/>
                </a:solidFill>
              </a:defRPr>
            </a:pPr>
            <a:r>
              <a:rPr sz="1800" b="1">
                <a:solidFill>
                  <a:srgbClr val="A66A00"/>
                </a:solidFill>
              </a:rPr>
              <a:t>DeepLTL (2025)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37B03-B0A5-4E94-B775-4D84D893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Given LTL</a:t>
            </a:r>
          </a:p>
          <a:p xmlns:a="http://schemas.openxmlformats.org/drawingml/2006/main">
            <a:r>
              <a:t>→ generalizable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1EBEA-EE51-4D45-94B4-2629B83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40AF5-9928-4AC3-A113-BBA8C88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UAV NL-to-STL (2026)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21B4A-3B5E-4E95-84D6-FB4E375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NL → STL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→ MILP repair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→ feasible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685BD-52C5-4850-891E-D2A4039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397D2-65BE-4432-A4FD-E8504F23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750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1515"/>
                </a:solidFill>
              </a:defRPr>
            </a:pPr>
            <a:r>
              <a:rPr sz="1800" b="1">
                <a:solidFill>
                  <a:srgbClr val="151515"/>
                </a:solidFill>
              </a:rPr>
              <a:t>GAP: NO MATCHED SAFE RL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4F428-630E-4006-B356-D5B4E63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Literature-driven revision</a:t>
            </a:r>
          </a:p>
        </p:txBody>
      </p:sp>
    </p:spTree>
    <p:extLst>
      <p:ext uri="{BB962C8B-B14F-4D97-AF65-F5344CB8AC3E}">
        <p14:creationId xmlns:p14="http://schemas.microsoft.com/office/powerpoint/2010/main" val="2053109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8">
            <a:extLst xmlns:a="http://schemas.openxmlformats.org/drawingml/2006/main">
              <a:ext uri="{FF2B5EF4-FFF2-40B4-BE49-F238E27FC236}">
                <a16:creationId xmlns:a16="http://schemas.microsoft.com/office/drawing/2014/main" id="{7346C6B9-7FA7-426C-B79B-D6A347E1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The Novelty Audit Changed the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F8257-CA4F-4B8E-8B9D-2162EF82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C45B1-FB8D-44F9-9783-0E6204F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Closest prior work already covered: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826B5-7C08-4C2F-8012-1B7EA970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3C914-0D9F-461D-AE19-24A0594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E7D4F"/>
                </a:solidFill>
              </a:defRPr>
            </a:pPr>
            <a:r>
              <a:rPr sz="1725" b="1">
                <a:solidFill>
                  <a:srgbClr val="2E7D4F"/>
                </a:solidFill>
              </a:rPr>
              <a:t>STL-Lagrangian DRL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B1A41-3F4B-47BA-9DBF-1B90C4B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2022 · STL constraints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→ constrained 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042F0-FAB8-4653-BFF5-B571E1D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1A576-5134-4711-B122-602C0C80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FAE"/>
                </a:solidFill>
              </a:defRPr>
            </a:pPr>
            <a:r>
              <a:rPr sz="1725" b="1">
                <a:solidFill>
                  <a:srgbClr val="2F6FAE"/>
                </a:solidFill>
              </a:rPr>
              <a:t>PPO-LTL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666B4-1328-4F4A-8E8F-9E981AD4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2026 · logic monitor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→ violation cost → PPO-Lag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38FC1-1717-4B18-9D52-49B6CA08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6650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F542F-5BC8-4A97-AC5A-28E9A65F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50A4"/>
                </a:solidFill>
              </a:defRPr>
            </a:pPr>
            <a:r>
              <a:rPr sz="1725" b="1">
                <a:solidFill>
                  <a:srgbClr val="6650A4"/>
                </a:solidFill>
              </a:rPr>
              <a:t>Full-STL 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841E5-83D1-417E-BC45-EF22360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2026 · multiple STL constraints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→ RL optimization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6FAA2-0AB3-4795-A599-9C17D29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762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36568-7DD7-4398-8FC1-12EDA8B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Already covered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1E542-F3A1-4F1C-A292-B29AECD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monitor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→ cost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→ Safe 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2AF4-6B7E-447A-BACD-969FC2E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5715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370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DC6AC-6703-494A-8A48-7EA549BC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Revised role of Stage 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D25C0-B46B-41C3-BA7F-6D88A594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Gold-STL downstream baseline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for a later representation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43A17-94E2-46FC-AFFE-B95B1926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81650"/>
            <a:ext cx="754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53A2D"/>
                </a:solidFill>
              </a:defRPr>
            </a:pPr>
            <a:r>
              <a:rPr sz="1725" b="1">
                <a:solidFill>
                  <a:srgbClr val="B53A2D"/>
                </a:solidFill>
              </a:rPr>
              <a:t>NOVELTY BOUNDARY: STL → COST → SAFE RL INTEGRATION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5EB7C-5E29-4C99-A2F6-1B532D5F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Novelty boundary</a:t>
            </a:r>
          </a:p>
        </p:txBody>
      </p:sp>
    </p:spTree>
    <p:extLst>
      <p:ext uri="{BB962C8B-B14F-4D97-AF65-F5344CB8AC3E}">
        <p14:creationId xmlns:p14="http://schemas.microsoft.com/office/powerpoint/2010/main" val="1518213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5">
            <a:extLst xmlns:a="http://schemas.openxmlformats.org/drawingml/2006/main">
              <a:ext uri="{FF2B5EF4-FFF2-40B4-BE49-F238E27FC236}">
                <a16:creationId xmlns:a16="http://schemas.microsoft.com/office/drawing/2014/main" id="{76ADBF8B-C6BD-4E32-A296-6B01CFE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Revised Question: Formal Path or Direct Cost?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E8663-4023-43D7-8B58-84C168A7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3468F-CA30-4355-8BA1-D1284E3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84E0B"/>
                </a:solidFill>
              </a:defRPr>
            </a:pPr>
            <a:r>
              <a:rPr sz="2175" b="1">
                <a:solidFill>
                  <a:srgbClr val="C84E0B"/>
                </a:solidFill>
              </a:rPr>
              <a:t>FORMAL VS DIRECT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19A05-3979-44A5-9081-4BD0D2C6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</a:rPr>
              <a:t>Same environment and Safe RL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4C9D8-10BD-445C-9EB3-870DE52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E5258-6474-4E37-A001-AF3732F8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Formal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08D42-BA4B-41DE-A175-8BE4C46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191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Natural language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→ STL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→ verified monitor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→ temporal event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F2042-DE5B-4BAC-B135-7DBA692D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6F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0D719-C0EF-425E-90C2-DA84239D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Direct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6F745-CCFB-4BF8-B1F1-BBE4EC26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11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51515"/>
                </a:solidFill>
              </a:defRPr>
            </a:pPr>
            <a:r>
              <a:rPr sz="2175" b="1">
                <a:solidFill>
                  <a:srgbClr val="151515"/>
                </a:solidFill>
              </a:rPr>
              <a:t>NL + causal trajectory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151515"/>
                </a:solidFill>
              </a:defRPr>
            </a:pPr>
            <a:r>
              <a:rPr sz="2175" b="1">
                <a:solidFill>
                  <a:srgbClr val="151515"/>
                </a:solidFill>
              </a:rPr>
              <a:t>→ learned cost predictor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151515"/>
                </a:solidFill>
              </a:defRPr>
            </a:pPr>
            <a:r>
              <a:rPr sz="2175" b="1">
                <a:solidFill>
                  <a:srgbClr val="151515"/>
                </a:solidFill>
              </a:rPr>
              <a:t>→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A2FC6-B4FA-4228-8B7B-E47C0C05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No executable logic intermediate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77D98-CFFD-46A3-8DE0-2089978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673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Compare formula semantics  |  trajectory labels  |  policy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08AB0-50CD-40DF-BFB0-2E929AE2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Revised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548658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3">
            <a:extLst xmlns:a="http://schemas.openxmlformats.org/drawingml/2006/main">
              <a:ext uri="{FF2B5EF4-FFF2-40B4-BE49-F238E27FC236}">
                <a16:creationId xmlns:a16="http://schemas.microsoft.com/office/drawing/2014/main" id="{8B97C843-1788-4490-A180-C73A776A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The Revised Plan Separates Three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62919-943A-4D4E-A6B1-EE88FB1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B50C9-67DB-4F07-8B97-DA46D73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1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EDEA6-DAEE-4D39-9DA3-CD284E24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5334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AA645-11A0-4ABB-B1CA-0787580D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290C6-6B95-4665-AD0C-501981A4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84E0B"/>
                </a:solidFill>
              </a:defRPr>
            </a:pPr>
            <a:r>
              <a:rPr sz="1950" b="1">
                <a:solidFill>
                  <a:srgbClr val="C84E0B"/>
                </a:solidFill>
              </a:rPr>
              <a:t>Stage I: Gold STL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08E1E-3A72-4B76-BA55-0CE8C81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Human-verified rule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STL → monitor → cost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→ Safe 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47740-66CF-4236-83BD-CE242C7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1811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C84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98DE2-68F8-4E2B-AB7E-C820131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2287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84E0B"/>
                </a:solidFill>
              </a:defRPr>
            </a:pPr>
            <a:r>
              <a:rPr sz="1050" b="1">
                <a:solidFill>
                  <a:srgbClr val="C84E0B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217AC-CA8A-43D8-B3E5-439A6E6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132A6-773B-4241-8676-0744D59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66A00"/>
                </a:solidFill>
              </a:defRPr>
            </a:pPr>
            <a:r>
              <a:rPr sz="1800" b="1">
                <a:solidFill>
                  <a:srgbClr val="A66A00"/>
                </a:solidFill>
              </a:rPr>
              <a:t>Stage II: Controlled NL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37B03-B0A5-4E94-B775-4D84D893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Compare</a:t>
            </a:r>
          </a:p>
          <a:p xmlns:a="http://schemas.openxmlformats.org/drawingml/2006/main">
            <a:r>
              <a:t>NL → STL → verified cost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with NL → learned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1EBEA-EE51-4D45-94B4-2629B83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240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40AF5-9928-4AC3-A113-BBA8C88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Stage III: Broader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21B4A-3B5E-4E95-84D6-FB4E375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9146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Vague language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Dynamic hazards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Perception error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More STL structures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685BD-52C5-4850-891E-D2A4039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397D2-65BE-4432-A4FD-E8504F23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750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1515"/>
                </a:solidFill>
              </a:defRPr>
            </a:pPr>
            <a:r>
              <a:rPr sz="1800" b="1">
                <a:solidFill>
                  <a:srgbClr val="151515"/>
                </a:solidFill>
              </a:rPr>
              <a:t>Current long experiment = Stage I gold-STL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4F428-630E-4006-B356-D5B4E63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Revised staged plan</a:t>
            </a:r>
          </a:p>
        </p:txBody>
      </p:sp>
    </p:spTree>
    <p:extLst>
      <p:ext uri="{BB962C8B-B14F-4D97-AF65-F5344CB8AC3E}">
        <p14:creationId xmlns:p14="http://schemas.microsoft.com/office/powerpoint/2010/main" val="2053109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6">
            <a:extLst xmlns:a="http://schemas.openxmlformats.org/drawingml/2006/main">
              <a:ext uri="{FF2B5EF4-FFF2-40B4-BE49-F238E27FC236}">
                <a16:creationId xmlns:a16="http://schemas.microsoft.com/office/drawing/2014/main" id="{285E5143-EB9E-4BAF-AE51-35C1036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Stage I Fixes One Simple Control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BC70D-F7AC-42C2-A555-5D4F4598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28474-2A7D-4A01-8C4E-0BFBF449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10210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37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72F03-235B-4591-A924-2FC31811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71600"/>
            <a:ext cx="925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51515"/>
                </a:solidFill>
              </a:defRPr>
            </a:pPr>
            <a:r>
              <a:rPr sz="1950" b="1">
                <a:solidFill>
                  <a:srgbClr val="151515"/>
                </a:solidFill>
              </a:rPr>
              <a:t>SafetyPointGoal1-v0  |  Reach the goal while satisfying one bounded-recovery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6F981-AF93-45D2-8F3E-52ACBD04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Benchmark +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FC0C-C594-4E8F-AB44-A2746EE7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2D Point agent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static hazards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d_t = nearest-hazard distance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2D798-FBAD-4D5B-8DC6-9AD4AA2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d_warn = 0.45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d_safe = 0.55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666666"/>
                </a:solidFill>
              </a:defRPr>
            </a:pPr>
            <a:r>
              <a:rPr sz="1575" b="0">
                <a:solidFill>
                  <a:srgbClr val="666666"/>
                </a:solidFill>
              </a:rPr>
              <a:t>K = 79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B08D2-FBF6-46AF-A128-78DD5A8F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Gold-STL bounded-recovery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B6114-8D24-447F-8CBE-C6F8E004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B53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A2454-8E16-44E3-A44A-0E5EDAE9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53A2D"/>
                </a:solidFill>
              </a:defRPr>
            </a:pPr>
            <a:r>
              <a:rPr sz="1575" b="1">
                <a:solidFill>
                  <a:srgbClr val="B53A2D"/>
                </a:solidFill>
              </a:rPr>
              <a:t>d_t &lt; 0.45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3C9C1-A7B4-43E5-A2DA-A8129A7C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4805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Warning 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59C40-9776-4A9B-98E9-155ABF26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A66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DA082-EC34-4C6F-ACCE-29BF4FC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5290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66A00"/>
                </a:solidFill>
              </a:defRPr>
            </a:pPr>
            <a:r>
              <a:rPr sz="1575" b="1">
                <a:solidFill>
                  <a:srgbClr val="A66A00"/>
                </a:solidFill>
              </a:rPr>
              <a:t>0.45 &lt;= d_t &lt; 0.55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EB09D-A766-42E1-9834-E38DE0AE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960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Recovery 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50F47-DF83-43C2-9DBC-AC377FFA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619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B351E-622F-4D1E-9271-6C9646E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24450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7D4F"/>
                </a:solidFill>
              </a:defRPr>
            </a:pPr>
            <a:r>
              <a:rPr sz="1575" b="1">
                <a:solidFill>
                  <a:srgbClr val="2E7D4F"/>
                </a:solidFill>
              </a:rPr>
              <a:t>d_t ≥ 0.55 within 79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63B90-6EFB-40FC-817B-AA466BBA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9115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Obligation satisfied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E3C99-1FA3-42B5-9E61-17F55FBC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Stage I control</a:t>
            </a:r>
          </a:p>
        </p:txBody>
      </p:sp>
    </p:spTree>
    <p:extLst>
      <p:ext uri="{BB962C8B-B14F-4D97-AF65-F5344CB8AC3E}">
        <p14:creationId xmlns:p14="http://schemas.microsoft.com/office/powerpoint/2010/main" val="1141538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9">
            <a:extLst xmlns:a="http://schemas.openxmlformats.org/drawingml/2006/main">
              <a:ext uri="{FF2B5EF4-FFF2-40B4-BE49-F238E27FC236}">
                <a16:creationId xmlns:a16="http://schemas.microsoft.com/office/drawing/2014/main" id="{7CA815D3-E47F-449B-B3D6-46461100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Current Long Experiment: Three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3619C-E8E0-4DD5-BB97-2B6B26D7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029B5-08AB-4B6F-9F6C-665A3171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Same environment, PPOLag backend, training budget, seeds, and gold-STL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9FCC3-C1C4-42C7-A77A-326B395B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4E44A-AF4D-4A64-83B9-DDA5C874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Task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5DA5-1A3F-4655-BF11-06CD8730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00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Learner safety cost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93B60-F78D-4E30-8C4B-6956E0B1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9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F370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5DC87-701D-423A-B765-9C18B59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Native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786D6-FB37-4619-A3B6-AF145CC5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705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Per-step hazard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61C65-2911-4FAF-8FD7-8E93D14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109DA-64C6-417D-B16C-8EFE0F9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7D4F"/>
                </a:solidFill>
              </a:defRPr>
            </a:pPr>
            <a:r>
              <a:rPr sz="1800" b="1">
                <a:solidFill>
                  <a:srgbClr val="2E7D4F"/>
                </a:solidFill>
              </a:rPr>
              <a:t>Gold-STL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5B79B-88C0-4E55-995D-4624A09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300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Missed recovery event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0AA20-7CF1-49E9-B318-4AEE466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Primary Stage I criteria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627A9-533B-43D7-B81C-514C00E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626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Safety: ≥30% fewer misses   |   Task: ≤10 pp goal-success loss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43450-4192-4F39-AE80-F81CCBB8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Running Stage I pilot</a:t>
            </a:r>
          </a:p>
        </p:txBody>
      </p:sp>
    </p:spTree>
    <p:extLst>
      <p:ext uri="{BB962C8B-B14F-4D97-AF65-F5344CB8AC3E}">
        <p14:creationId xmlns:p14="http://schemas.microsoft.com/office/powerpoint/2010/main" val="408678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9">
            <a:extLst xmlns:a="http://schemas.openxmlformats.org/drawingml/2006/main">
              <a:ext uri="{FF2B5EF4-FFF2-40B4-BE49-F238E27FC236}">
                <a16:creationId xmlns:a16="http://schemas.microsoft.com/office/drawing/2014/main" id="{7CA815D3-E47F-449B-B3D6-46461100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51515"/>
                </a:solidFill>
              </a:defRPr>
            </a:pPr>
            <a:r>
              <a:rPr sz="2775" b="1">
                <a:solidFill>
                  <a:srgbClr val="151515"/>
                </a:solidFill>
              </a:rPr>
              <a:t>Stage I Unlocks the Representation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3619C-E8E0-4DD5-BB97-2B6B26D7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9A9A9A"/>
                </a:solidFill>
              </a:defRPr>
            </a:pPr>
            <a:r>
              <a:rPr sz="1350" b="0">
                <a:solidFill>
                  <a:srgbClr val="9A9A9A"/>
                </a:solidFill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029B5-08AB-4B6F-9F6C-665A3171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4E0B"/>
                </a:solidFill>
              </a:defRPr>
            </a:pPr>
            <a:r>
              <a:rPr sz="1875" b="1">
                <a:solidFill>
                  <a:srgbClr val="C84E0B"/>
                </a:solidFill>
              </a:rPr>
              <a:t>Stage I: gold reference   |   Stage II: representation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15E09-372E-4FB9-ABB1-A660C4F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24150"/>
            <a:ext cx="609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1ED5B-0A37-4D05-9F49-406042BA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609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9FCC3-C1C4-42C7-A77A-326B395B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4E44A-AF4D-4A64-83B9-DDA5C874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FAE"/>
                </a:solidFill>
              </a:defRPr>
            </a:pPr>
            <a:r>
              <a:rPr sz="1800" b="1">
                <a:solidFill>
                  <a:srgbClr val="2F6FAE"/>
                </a:solidFill>
              </a:rPr>
              <a:t>Gold-STL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5DA5-1A3F-4655-BF11-06CD8730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00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Verified monitor + policy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93B60-F78D-4E30-8C4B-6956E0B1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9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28575">
            <a:solidFill>
              <a:srgbClr val="F370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5DC87-701D-423A-B765-9C18B593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4E0B"/>
                </a:solidFill>
              </a:defRPr>
            </a:pPr>
            <a:r>
              <a:rPr sz="1800" b="1">
                <a:solidFill>
                  <a:srgbClr val="C84E0B"/>
                </a:solidFill>
              </a:rPr>
              <a:t>Controlled NL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786D6-FB37-4619-A3B6-AF145CC5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705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Commands + gold formulas + matched trajectories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61C65-2911-4FAF-8FD7-8E93D14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109DA-64C6-417D-B16C-8EFE0F9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7D4F"/>
                </a:solidFill>
              </a:defRPr>
            </a:pPr>
            <a:r>
              <a:rPr sz="1800" b="1">
                <a:solidFill>
                  <a:srgbClr val="2E7D4F"/>
                </a:solidFill>
              </a:rPr>
              <a:t>Formal vs direct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5B79B-88C0-4E55-995D-4624A09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3009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NL→STL cost vs NL→learned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0AA20-7CF1-49E9-B318-4AEE466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2828"/>
                </a:solidFill>
              </a:defRPr>
            </a:pPr>
            <a:r>
              <a:rPr sz="1800" b="1">
                <a:solidFill>
                  <a:srgbClr val="282828"/>
                </a:solidFill>
              </a:rPr>
              <a:t>Compare at three levels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EDD98-727C-413B-BFFF-13500A9F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74580-204E-4264-B508-2855DD9B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67275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</a:rPr>
              <a:t>FORMULA SEMANTICS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3E2E5-2A38-494F-92B9-86EC69D3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6F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8F9E3-0731-46D7-B473-570D8FA2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67275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AE"/>
                </a:solidFill>
              </a:defRPr>
            </a:pPr>
            <a:r>
              <a:rPr sz="1050" b="1">
                <a:solidFill>
                  <a:srgbClr val="2F6FAE"/>
                </a:solidFill>
              </a:rPr>
              <a:t>TRAJECTORY COST LABELS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CE81A-EE32-474F-8516-8E502CF0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96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C84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7592F-4106-4311-A377-B8E8E35C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67275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84E0B"/>
                </a:solidFill>
              </a:defRPr>
            </a:pPr>
            <a:r>
              <a:rPr sz="1050" b="1">
                <a:solidFill>
                  <a:srgbClr val="C84E0B"/>
                </a:solidFill>
              </a:rPr>
              <a:t>POLICY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43450-4192-4F39-AE80-F81CCBB8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9A9A"/>
                </a:solidFill>
              </a:defRPr>
            </a:pPr>
            <a:r>
              <a:rPr sz="975" b="0">
                <a:solidFill>
                  <a:srgbClr val="9A9A9A"/>
                </a:solidFill>
              </a:rPr>
              <a:t>Language-Grounded STL Safe RL | Next research stage</a:t>
            </a:r>
          </a:p>
        </p:txBody>
      </p:sp>
    </p:spTree>
    <p:extLst>
      <p:ext uri="{BB962C8B-B14F-4D97-AF65-F5344CB8AC3E}">
        <p14:creationId xmlns:p14="http://schemas.microsoft.com/office/powerpoint/2010/main" val="408678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2026-08-12T05:28:31.1880000Z</dcterms:created>
  <dcterms:modified xsi:type="dcterms:W3CDTF">2026-08-12T05:28:31.1880000Z</dcterms:modified>
</coreProperties>
</file>